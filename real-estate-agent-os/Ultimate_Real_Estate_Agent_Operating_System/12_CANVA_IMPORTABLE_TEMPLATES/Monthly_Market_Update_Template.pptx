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88952" cy="7315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</a:rPr>
              <a:t>MONTHLY MARKET UPDATE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5A623"/>
                </a:solidFill>
              </a:rPr>
              <a:t>[Month Year] | [City/Neighborhood]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DC3C7"/>
                </a:solidFill>
              </a:rPr>
              <a:t>Prepared by [Your Name] | [Brokerage] | [Phone]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KEY MARKET STATISTICS — [MONTH YEAR]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371600"/>
            <a:ext cx="3657600" cy="2286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371600"/>
            <a:ext cx="3657600" cy="7315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155448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0F3460"/>
                </a:solidFill>
              </a:rPr>
              <a:t>$[XXX,XXX]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25146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3E50"/>
                </a:solidFill>
              </a:rPr>
              <a:t>Median Sale Price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31089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46464"/>
                </a:solidFill>
              </a:rPr>
              <a:t>▲ [X]% vs last month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59" y="1371600"/>
            <a:ext cx="3657600" cy="2286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59" y="1371600"/>
            <a:ext cx="3657600" cy="7315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399" y="155448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0F3460"/>
                </a:solidFill>
              </a:rPr>
              <a:t>[XX]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399" y="25146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3E50"/>
                </a:solidFill>
              </a:rPr>
              <a:t>Average Days on Market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399" y="31089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46464"/>
                </a:solidFill>
              </a:rPr>
              <a:t>▼ [X] days vs last month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79" y="3840480"/>
            <a:ext cx="3657600" cy="2286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3840480"/>
            <a:ext cx="3657600" cy="7315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402336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0F3460"/>
                </a:solidFill>
              </a:rPr>
              <a:t>[XXX]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49834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3E50"/>
                </a:solidFill>
              </a:rPr>
              <a:t>Homes Sold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55778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46464"/>
                </a:solidFill>
              </a:rPr>
              <a:t>▲ [X]% vs same month last year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840480"/>
            <a:ext cx="3657600" cy="2286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840480"/>
            <a:ext cx="3657600" cy="7315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79" y="402336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0F3460"/>
                </a:solidFill>
              </a:rPr>
              <a:t>[X.X]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79" y="49834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3E50"/>
                </a:solidFill>
              </a:rPr>
              <a:t>Months of Inventory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79" y="55778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46464"/>
                </a:solidFill>
              </a:rPr>
              <a:t>[Seller's / Buyer's] Market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51959" y="6309360"/>
            <a:ext cx="3657600" cy="2286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51959" y="6309360"/>
            <a:ext cx="3657600" cy="7315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43399" y="649224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0F3460"/>
                </a:solidFill>
              </a:rPr>
              <a:t>[XX]%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399" y="74523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3E50"/>
                </a:solidFill>
              </a:rPr>
              <a:t>List-to-Sale Ratio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399" y="80467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46464"/>
                </a:solidFill>
              </a:rPr>
              <a:t>Sellers receiving [above/below] asking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83879" y="6309360"/>
            <a:ext cx="3657600" cy="2286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83879" y="6309360"/>
            <a:ext cx="3657600" cy="7315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75319" y="649224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0F3460"/>
                </a:solidFill>
              </a:rPr>
              <a:t>$[XXX]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19" y="74523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3E50"/>
                </a:solidFill>
              </a:rPr>
              <a:t>Price Per Square Foot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19" y="80467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46464"/>
                </a:solidFill>
              </a:rPr>
              <a:t>▲ [X]% year over year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WHAT THIS MEANS FOR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371600"/>
            <a:ext cx="5577840" cy="52120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309360" y="1371600"/>
            <a:ext cx="5577840" cy="52120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3460"/>
                </a:solidFill>
              </a:rPr>
              <a:t>🏡 IF YOU'RE SELLING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• Market conditions favor [buyers/sellers]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• Your home could sell for $[XXX,XXX]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• Expected days on market: [XX] days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661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• Now is [a great/a challenging] time to 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233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• [Specific market insight for sellers]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4805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• [Call to action: Schedule a free valuation]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46304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3460"/>
                </a:solidFill>
              </a:rPr>
              <a:t>🔍 IF YOU'RE BUYING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1945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• Competition level: [High/Moderate/Low]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6517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• Average offers per home: [X]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1089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• Homes going [above/below] asking price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5661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• Expect to offer [X]% [above/below] list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0233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• [Specific market insight for buyers]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4805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• [Call to action: Get pre-approved today]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