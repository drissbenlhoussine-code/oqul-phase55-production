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88952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</a:rPr>
              <a:t>[YOUR NAME / COMPANY]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9144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WELCOME TO YOUR
MORTGAGE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DC3C7"/>
                </a:solidFill>
              </a:rPr>
              <a:t>Everything you need to know about your loan process — in one place.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</a:rPr>
              <a:t>Prepared for: [Client Name]  •  Start Date: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3460"/>
                </a:solidFill>
              </a:rPr>
              <a:t>Your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45920"/>
            <a:ext cx="3657600" cy="4114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Your Loan Officer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3E50"/>
                </a:solidFill>
              </a:rPr>
              <a:t>[Name]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[Phone]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[Email]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645920"/>
            <a:ext cx="3657600" cy="4114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Your Processor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377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3E50"/>
                </a:solidFill>
              </a:rPr>
              <a:t>[Name]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926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[Phone]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383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[Email]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3657600" cy="4114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Support / Scheduling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377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3E50"/>
                </a:solidFill>
              </a:rPr>
              <a:t>[Name]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926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[Phone]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383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[Email]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Your Mortgage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4440" y="2286000"/>
            <a:ext cx="457200" cy="457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DC3C7"/>
                </a:solidFill>
              </a:rPr>
              <a:t>Day 1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2286000"/>
            <a:ext cx="457200" cy="457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UNDERWRITING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3474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DC3C7"/>
                </a:solidFill>
              </a:rPr>
              <a:t>Days 5–15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2286000"/>
            <a:ext cx="457200" cy="457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474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DC3C7"/>
                </a:solidFill>
              </a:rPr>
              <a:t>Days 15–20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599" y="2286000"/>
            <a:ext cx="457200" cy="457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59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CLEAR TO CLOSE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59" y="3474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DC3C7"/>
                </a:solidFill>
              </a:rPr>
              <a:t>Day 20–25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61320" y="2286000"/>
            <a:ext cx="457200" cy="457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CLOSING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3474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DC3C7"/>
                </a:solidFill>
              </a:rPr>
              <a:t>Day 25–35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3460"/>
                </a:solidFill>
              </a:rPr>
              <a:t>Documents You Will Need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486400" cy="1188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□  Government-issued photo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486400" cy="1188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□  Last 2 years W-2s or tax returns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0"/>
            <a:ext cx="5486400" cy="1188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□  Last 30 days pay stubs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926080"/>
            <a:ext cx="5486400" cy="1188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2461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□  Last 2 months bank statements (all pages)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389120"/>
            <a:ext cx="5486400" cy="1188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7091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□  Purchase agreement (purchase loans)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389120"/>
            <a:ext cx="5486400" cy="1188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7091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□  Current mortgage statement (refinances)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How We Will Communicate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1033272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48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</a:rPr>
              <a:t>Primary Channel: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14884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[Email / Phone / Portal / Text]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108960"/>
            <a:ext cx="1033272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246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</a:rPr>
              <a:t>Response Window: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24612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Within [X] business hours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206240"/>
            <a:ext cx="1033272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343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</a:rPr>
              <a:t>Updates: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434340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Proactive milestone updates — you will never need to chase 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303520"/>
            <a:ext cx="1033272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440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</a:rPr>
              <a:t>Escalation: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544068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[Your Name] — [direct number]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3460"/>
                </a:solidFill>
              </a:rPr>
              <a:t>What NOT to Do During Your Loan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74C3C"/>
                </a:solidFill>
              </a:rPr>
              <a:t>✗  Open new credit cards or apply for new credit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6771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74C3C"/>
                </a:solidFill>
              </a:rPr>
              <a:t>✗  Make large cash deposits or withdrawals without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72384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74C3C"/>
                </a:solidFill>
              </a:rPr>
              <a:t>✗  Change jobs or reduce your income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77056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74C3C"/>
                </a:solidFill>
              </a:rPr>
              <a:t>✗  Purchase furniture or appliances on credit before closing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681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74C3C"/>
                </a:solidFill>
              </a:rPr>
              <a:t>✗  Co-sign any loans for other people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4864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74C3C"/>
                </a:solidFill>
              </a:rPr>
              <a:t>✗  Make any large unplanned financial commitments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