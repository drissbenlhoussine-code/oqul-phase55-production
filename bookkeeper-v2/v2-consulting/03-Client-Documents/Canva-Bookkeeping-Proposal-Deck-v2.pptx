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94392" y="4663440"/>
            <a:ext cx="219456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91672" y="5760720"/>
            <a:ext cx="1097280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31752" y="6400800"/>
            <a:ext cx="4572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3474720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BOOKKEEPING SERVICES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Prepared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[CLIENT COMPANY]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 tailored bookkeeping engagement proposal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480560"/>
            <a:ext cx="182880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663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[PRACTICE NAME]  ·  [DATE]  ·  Valid until [DATE + 14 DAYS]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0350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Bookkeeper Practice Launch System  v2.0  —  Consulting Edition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[PRACTICE NAME] — Who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Providing professional bookkeeping services to growing businesses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303520" cy="5029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0292" cy="5029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66E"/>
                </a:solidFill>
                <a:latin typeface="Calibri"/>
              </a:rPr>
              <a:t>OUR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[PRACTICE NAME] provides professional bookkeeping services to [TARGET CLIENT TYPE] businesses. We specialise in [SPECIALISATION] and work with clients who need accurate, timely books and clear financial reporting.
Our clients receive:
→  Clean, accurate books delivered on schedule
→  A single point of contact who knows their business
→  Secure access to reports and documents at all times
→  A system that scales with their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17320"/>
            <a:ext cx="3017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417320"/>
            <a:ext cx="5029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1527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CLIENTS 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764792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[X]+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5420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and growing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93492"/>
            <a:ext cx="3017520" cy="411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17320"/>
            <a:ext cx="3017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417320"/>
            <a:ext cx="5029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527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YEARS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1764792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[X]+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25420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in bookkeeping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2793492"/>
            <a:ext cx="3017520" cy="411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2971800"/>
            <a:ext cx="3017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2971800"/>
            <a:ext cx="5029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8" y="30815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SOFTWARE PLATFORMS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3319272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[X]+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4096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supported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4347972"/>
            <a:ext cx="30175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2971800"/>
            <a:ext cx="3017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2971800"/>
            <a:ext cx="5029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30815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AVG CLIENT TENURE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3319272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[X] yrs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4096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average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4347972"/>
            <a:ext cx="3017520" cy="411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9320" y="4526280"/>
            <a:ext cx="6217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89320" y="4526280"/>
            <a:ext cx="5029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8" y="46360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TEAM / COVERAGE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8" y="4873752"/>
            <a:ext cx="6035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[Describe coverage]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565099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e.g., dedicated bookkeeper + backup cover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5902452"/>
            <a:ext cx="6217920" cy="411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What We Found in Your Diagnostic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Based on the information you shared and our initial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48872" cy="7772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0292" cy="777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50876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766E"/>
                </a:solidFill>
                <a:latin typeface="Calibri"/>
              </a:rPr>
              <a:t>DIAGNOSTIC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46504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[Summarise what you found: current book condition, backlog, reconciliation status, reporting gaps, software issues, and the client's primary goal.]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3749039" cy="40690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50292" cy="4069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54203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01 — Current Situation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2971800"/>
            <a:ext cx="356615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[Describe the current state of the books, last reconciled period, and any known issues]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5383" y="2377440"/>
            <a:ext cx="3749039" cy="40690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15383" y="2377440"/>
            <a:ext cx="50292" cy="4069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1" y="254203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02 — Primary Challenge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1" y="2971800"/>
            <a:ext cx="356615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1" y="3063240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[What is the biggest problem to solve — backlog, messy categorisation, no reporting, etc.]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0726" y="2377440"/>
            <a:ext cx="3749039" cy="40690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0726" y="2377440"/>
            <a:ext cx="50292" cy="4069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4" y="254203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03 — Desired Outcome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4" y="2971800"/>
            <a:ext cx="356615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4" y="3063240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[What does the client want — clean books by X date, monthly reporting, tax readiness, etc.]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Recommended Scope — What We Will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Monthly recurring services proposed for your engagement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17320"/>
            <a:ext cx="3200400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47218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17320"/>
            <a:ext cx="1828800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7218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CADENCE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417320"/>
            <a:ext cx="6858000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472184"/>
            <a:ext cx="6675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WHAT IS INCLUDED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64792"/>
            <a:ext cx="32004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Bookkeeping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764792"/>
            <a:ext cx="18288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819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Monthly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764792"/>
            <a:ext cx="68580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81965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Transaction categorisation, reconciliation, review, and approved adjusting entries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240280"/>
            <a:ext cx="3200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2951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Financial Reporting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24028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295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Monthly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240280"/>
            <a:ext cx="68580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2951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Profit &amp; Loss, Balance Sheet, and additional agreed reports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715768"/>
            <a:ext cx="32004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770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Client Questions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715768"/>
            <a:ext cx="18288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2770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Monthly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715768"/>
            <a:ext cx="68580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77063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Consolidated exception list and documented follow-up process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191256"/>
            <a:ext cx="3200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Review Meeting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3191256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[Cadence]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3191256"/>
            <a:ext cx="68580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32461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[Duration] review call — walk through reports, exceptions, and next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666744"/>
            <a:ext cx="32004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7216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Cleanup Project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666744"/>
            <a:ext cx="18288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3721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One-Time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666744"/>
            <a:ext cx="685800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37216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[Months / accounts / issues — complete description of cleanup scope]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4434840"/>
            <a:ext cx="11823192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4434840"/>
            <a:ext cx="50292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" y="45262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706"/>
                </a:solidFill>
                <a:latin typeface="Calibri"/>
              </a:rPr>
              <a:t>EXCLUSIONS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" y="4764024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Tax advice, tax returns, audit/assurance, legal advice, and CFO services are excluded unless separately contracted and permitted under applicable regulations.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Implementation Plan — From Signature to First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A structured six-step onboarding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17320"/>
            <a:ext cx="3886200" cy="21945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30552"/>
            <a:ext cx="3611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2199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Sign &amp;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65176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Engagement agreement signed and initial payment received.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264408"/>
            <a:ext cx="1371600" cy="2926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328269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766E"/>
                </a:solidFill>
                <a:latin typeface="Calibri"/>
              </a:rPr>
              <a:t>Day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417320"/>
            <a:ext cx="3886200" cy="21945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1688" y="2130552"/>
            <a:ext cx="3611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22199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Access &amp;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65176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Secure accountant access granted; documents uploaded to portal.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47688" y="3264408"/>
            <a:ext cx="1371600" cy="2926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5976" y="328269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766E"/>
                </a:solidFill>
                <a:latin typeface="Calibri"/>
              </a:rPr>
              <a:t>Days 1–5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6176" y="1417320"/>
            <a:ext cx="3886200" cy="21945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03336" y="2130552"/>
            <a:ext cx="3611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222199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Diagnostic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265176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Opening balances confirmed and cleanup scope documented.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89336" y="3264408"/>
            <a:ext cx="1371600" cy="2926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07624" y="328269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766E"/>
                </a:solidFill>
                <a:latin typeface="Calibri"/>
              </a:rPr>
              <a:t>Week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794760"/>
            <a:ext cx="3886200" cy="21945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86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507992"/>
            <a:ext cx="3611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599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Cleanup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02920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Prior-period cleanup completed (if applicable).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5641848"/>
            <a:ext cx="1371600" cy="2926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24328" y="56601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766E"/>
                </a:solidFill>
                <a:latin typeface="Calibri"/>
              </a:rPr>
              <a:t>Weeks 2–[X]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4528" y="3794760"/>
            <a:ext cx="3886200" cy="21945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3886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61688" y="4507992"/>
            <a:ext cx="3611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8" y="4599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First Close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502920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First monthly close completed — books brought current.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5641848"/>
            <a:ext cx="1371600" cy="2926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5976" y="56601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766E"/>
                </a:solidFill>
                <a:latin typeface="Calibri"/>
              </a:rPr>
              <a:t>[Month/Year]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66176" y="3794760"/>
            <a:ext cx="3886200" cy="21945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3336" y="3886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03336" y="4507992"/>
            <a:ext cx="3611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03336" y="4599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Deliver &amp; Refine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502920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Reports delivered; process refinement call held.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89336" y="5641848"/>
            <a:ext cx="1371600" cy="2926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07624" y="56601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766E"/>
                </a:solidFill>
                <a:latin typeface="Calibri"/>
              </a:rPr>
              <a:t>After Close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Your Investment — Transparent, Fixed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No surprises, no scope creep — agreed in writing before we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17320"/>
            <a:ext cx="11823192" cy="10972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417320"/>
            <a:ext cx="5029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8191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Setup / Diagnostic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Due on acceptance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527048"/>
            <a:ext cx="3291840" cy="87782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1527048"/>
            <a:ext cx="50292" cy="8778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  <a:latin typeface="Calibri"/>
              </a:rPr>
              <a:t>€[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83112" y="1417320"/>
            <a:ext cx="82296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01400" y="1801368"/>
            <a:ext cx="786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ONE-TIME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87752"/>
            <a:ext cx="11823192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2587752"/>
            <a:ext cx="5029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5234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Cleanup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821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[50% on start / 50% on delivery]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697480"/>
            <a:ext cx="3291840" cy="87782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2697480"/>
            <a:ext cx="50292" cy="8778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81635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  <a:latin typeface="Calibri"/>
              </a:rPr>
              <a:t>€[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83112" y="2587752"/>
            <a:ext cx="82296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01400" y="2971800"/>
            <a:ext cx="786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ONE-TIME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758184"/>
            <a:ext cx="11823192" cy="10972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3758184"/>
            <a:ext cx="50292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227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Monthly Bookkeeping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35254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Monthly in advance by bank transfer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867912"/>
            <a:ext cx="3291840" cy="87782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3867912"/>
            <a:ext cx="50292" cy="87782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9867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Calibri"/>
              </a:rPr>
              <a:t>€[ ] / month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83112" y="3758184"/>
            <a:ext cx="822960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01400" y="4142232"/>
            <a:ext cx="786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RECURRING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928616"/>
            <a:ext cx="11823192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4928616"/>
            <a:ext cx="50292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093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Additional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5229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With written approval — no surprises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5038344"/>
            <a:ext cx="3291840" cy="87782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0" y="5038344"/>
            <a:ext cx="50292" cy="87782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515721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€[ ] / hour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183112" y="4928616"/>
            <a:ext cx="822960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01400" y="5312664"/>
            <a:ext cx="786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Why Choose [PRACTICE NAME] — What Sets Us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Six commitments to every client we work with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2240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029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002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Consistent &amp; Reliable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075688"/>
            <a:ext cx="3529583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167128"/>
            <a:ext cx="3566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Your books are closed on schedule, every month. No chasing, no guessing about where things stand.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7" y="1417320"/>
            <a:ext cx="3749039" cy="2240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7" y="1417320"/>
            <a:ext cx="5029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5" y="16002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Clear Communication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8535" y="2075688"/>
            <a:ext cx="3529583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5" y="2167128"/>
            <a:ext cx="3566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One consolidated question list. One report delivery. No noise, no surprise requests mid-month.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4" y="1417320"/>
            <a:ext cx="3749039" cy="2240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4" y="1417320"/>
            <a:ext cx="5029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2" y="16002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Secure by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3022" y="2075688"/>
            <a:ext cx="3529583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2" y="2167128"/>
            <a:ext cx="3566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Role-based access only. Secure portal for all documents. No passwords by email — ever.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40"/>
            <a:ext cx="3749039" cy="2240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749040"/>
            <a:ext cx="5029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93192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Scales With You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4407408"/>
            <a:ext cx="3529583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498848"/>
            <a:ext cx="3566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Whether you are at €1M or €5M revenue, the system scales without rebuilding your workflow.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8807" y="3749040"/>
            <a:ext cx="3749039" cy="2240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78807" y="3749040"/>
            <a:ext cx="5029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8535" y="393192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Finance-First Thinking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88535" y="4407408"/>
            <a:ext cx="3529583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5" y="4498848"/>
            <a:ext cx="3566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We flag issues before they become problems. Your books tell a story — we help you read 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4" y="3749040"/>
            <a:ext cx="3749039" cy="22402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3294" y="3749040"/>
            <a:ext cx="5029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2" y="393192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One Point of Contact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93022" y="4407408"/>
            <a:ext cx="3529583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2" y="4498848"/>
            <a:ext cx="3566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You work directly with your bookkeeper. No call centres, no handoffs, no repeating yourself.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How We Work Together — A Two-Way Commitment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A successful engagement requires clear responsibilities on both sides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17320"/>
            <a:ext cx="5715000" cy="4983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417320"/>
            <a:ext cx="50292" cy="4983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57276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YOUR RESPONSIBILITIES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1965960"/>
            <a:ext cx="5532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0574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Provide complete and accurate records by the agreed deadline each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69748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Grant secure, role-based software access (not passwords by email)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33756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Respond to transaction questions within [X] business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97764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Review and acknowledge monthly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461772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Retain original source documents for the required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52578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Engage a qualified tax professional for tax advice and filings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5715000" cy="4983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417320"/>
            <a:ext cx="50292" cy="4983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57276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66E"/>
                </a:solidFill>
                <a:latin typeface="Calibri"/>
              </a:rPr>
              <a:t>OUR COMMITMENTS TO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1965960"/>
            <a:ext cx="5532120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20574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Close on schedule — or notify you immediately if delayed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69748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Raise questions in one batch, not scattered throughout the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33756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Document every judgment, exception, and adjusting entry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397764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Never request passwords by ordinary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61772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Deliver reports to your secure portal, not your inbox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52578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→  Flag unusual transactions or financial risks proactively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Next Steps — How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Five steps from this proposal to your first monthly 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47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63040"/>
            <a:ext cx="11823192" cy="8046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46304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59105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536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Review this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Take a few minutes to read through the scope, investment, and responsibilities. Note any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377440"/>
            <a:ext cx="11823192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237744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50545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Ask your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3464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Reply to this proposal or book a quick call: [LINK]. We want to make sure this is exactly right for you.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291840"/>
            <a:ext cx="11823192" cy="8046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29184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341985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649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Approve the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Reply with "Approved" or confirm your preferred scope option. We will send the engagement agreement.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206240"/>
            <a:ext cx="11823192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420624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433425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79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Sign &amp; pay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6344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Sign the engagement agreement and pay the setup fee. You will receive your portal invitation within 24 hours.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120640"/>
            <a:ext cx="11823192" cy="8046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512064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524865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937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We get started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We request access, collect documents, and schedule your kickoff call. First close begins [START DATE].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6144768"/>
            <a:ext cx="11823192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6144768"/>
            <a:ext cx="50292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623620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706"/>
                </a:solidFill>
                <a:latin typeface="Calibri"/>
              </a:rPr>
              <a:t>PROPOSAL VALIDITY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" y="6473952"/>
            <a:ext cx="11640312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This proposal is valid until [DATE + 14 DAYS]. After that date, please contact us to confirm current availability and pricing.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0152" y="5029200"/>
            <a:ext cx="18288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4552" y="5943600"/>
            <a:ext cx="914400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23192" y="6492240"/>
            <a:ext cx="36576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Thank you for considering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[PRACTICE NAME]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200400"/>
            <a:ext cx="182880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[BOOKKEEPER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[EMAIL ADDRESS]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97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[PHONE NUMBER]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[WEBSITE / PORTAL URL]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943600"/>
            <a:ext cx="50292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61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Replace all [BRACKETED TEXT] before sharing this deck with a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