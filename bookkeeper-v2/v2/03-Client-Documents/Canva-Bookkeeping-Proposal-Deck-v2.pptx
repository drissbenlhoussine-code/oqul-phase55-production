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3657600"/>
            <a:ext cx="32004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77272" y="4846320"/>
            <a:ext cx="2011680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74552" y="5943600"/>
            <a:ext cx="9144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92608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BOOKKEEPING SERVICES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Poppins"/>
              </a:rPr>
              <a:t>Prepared For
[CLIENT COMPANY]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Inter"/>
              </a:rPr>
              <a:t>A tailored bookkeeping engagement proposal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2286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[PRACTICE NAME]  ·  [DATE]  ·  Valid until [DATE + 14 days]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43600"/>
            <a:ext cx="219456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Poppins"/>
              </a:rPr>
              <a:t>BOOKKEEPER PRACTICE LAUNCH SYSTEM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About [PRACTICE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Your trusted bookkeeping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WHO WE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Inter"/>
              </a:rPr>
              <a:t>[PRACTICE NAME] provides professional bookkeeping services to [TARGET CLIENT TYPE] businesses. We specialize in [SPECIALIZATION] and work with clients who need accurate, timely books and clear financial reporting.
Our clients get:
• Clean, accurate books delivered on schedule
• A single point of contact who knows their business
• Secure access to reports and documents anytime
• A system that scales with their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2651760" cy="1463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FBF1"/>
                </a:solidFill>
                <a:latin typeface="Poppins"/>
              </a:rPr>
              <a:t>CLIENTS 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4708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oppins"/>
              </a:rPr>
              <a:t>[X]+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Inter"/>
              </a:rPr>
              <a:t>and growing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880360"/>
            <a:ext cx="265176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65176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FBF1"/>
                </a:solidFill>
                <a:latin typeface="Poppins"/>
              </a:rPr>
              <a:t>YEARS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84708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oppins"/>
              </a:rPr>
              <a:t>[X]+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Inter"/>
              </a:rPr>
              <a:t>in bookkeeping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880360"/>
            <a:ext cx="265176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200400"/>
            <a:ext cx="2651760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101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FBF1"/>
                </a:solidFill>
                <a:latin typeface="Poppins"/>
              </a:rPr>
              <a:t>SOFTWARE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844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oppins"/>
              </a:rPr>
              <a:t>[X]+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Inter"/>
              </a:rPr>
              <a:t>supported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265176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200400"/>
            <a:ext cx="2651760" cy="1463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33101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FBF1"/>
                </a:solidFill>
                <a:latin typeface="Poppins"/>
              </a:rPr>
              <a:t>AVG CLIENT TENURE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5844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oppins"/>
              </a:rPr>
              <a:t>[X] yrs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Inter"/>
              </a:rPr>
              <a:t>average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4617720"/>
            <a:ext cx="265176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Summary of your diagnostic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74552" cy="100584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9728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Poppins"/>
              </a:rPr>
              <a:t>DIAGNOSTIC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[Summarize what you found during the diagnostic: current book condition, backlog, reconciliation status, reporting gaps, software issues, and the client's primary goal.]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36576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Current 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9184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[Describe the current state of the books, last reconciled period, and any known issues]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26974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2697480"/>
            <a:ext cx="36576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852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Primary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29184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[What is the biggest problem to solve — backlog, messy categorization, no reporting, etc.]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26974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2697480"/>
            <a:ext cx="36576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2852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Desired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29184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[What does the client want to achieve — clean books by X date, monthly reporting, tax readiness, etc.]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Recommended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What we will do for you, every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320040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Poppins"/>
              </a:rPr>
              <a:t>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182880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Poppins"/>
              </a:rPr>
              <a:t>CADENCE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417320"/>
            <a:ext cx="667512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46304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Poppins"/>
              </a:rPr>
              <a:t>WHAT IS INCLUDED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801368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470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Bookkeeping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801368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847088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Monthly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1801368"/>
            <a:ext cx="66751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847088"/>
            <a:ext cx="6492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Transaction categorization, reconciliation, review, and approved adjusting entries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86000"/>
            <a:ext cx="3200400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331720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Financial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286000"/>
            <a:ext cx="1828800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2331720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286000"/>
            <a:ext cx="6675120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331720"/>
            <a:ext cx="6492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Profit &amp; Loss, Balance Sheet, and additional agreed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770632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16352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Client Questions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2770632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2816352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Monthly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2770632"/>
            <a:ext cx="66751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2816352"/>
            <a:ext cx="6492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Consolidated exception list and documented follow-up process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255264"/>
            <a:ext cx="3200400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30098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Review Meeting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3255264"/>
            <a:ext cx="1828800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3300984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[Cadence]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3255264"/>
            <a:ext cx="6675120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3300984"/>
            <a:ext cx="6492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[Duration] review call — walk through reports, exceptions, and next 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739896"/>
            <a:ext cx="32004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78561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Cleanup Project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3739896"/>
            <a:ext cx="18288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3785616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One-Time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800" y="3739896"/>
            <a:ext cx="66751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3785616"/>
            <a:ext cx="6492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[Months / accounts / issues — complete description of cleanup scope]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572000"/>
            <a:ext cx="11731752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4572000"/>
            <a:ext cx="9144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617720"/>
            <a:ext cx="11548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Tax advice, tax returns, audit/assurance, legal advice, and CFO services are excluded unless separately contracted and permitted.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How we get started — from signature to first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59436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508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417320"/>
            <a:ext cx="8686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4538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Poppins"/>
              </a:rPr>
              <a:t>Sign &amp; 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7647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Inter"/>
              </a:rPr>
              <a:t>Engagement agreement signed and initial payment received.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1417320"/>
            <a:ext cx="228600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Poppins"/>
              </a:rPr>
              <a:t>Day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267712"/>
            <a:ext cx="59436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23591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267712"/>
            <a:ext cx="868680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304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Poppins"/>
              </a:rPr>
              <a:t>Access &amp;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1518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Inter"/>
              </a:rPr>
              <a:t>Secure accountant access granted and documents uploaded to portal.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267712"/>
            <a:ext cx="2286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4323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Poppins"/>
              </a:rPr>
              <a:t>Days 1–5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118104"/>
            <a:ext cx="59436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320954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118104"/>
            <a:ext cx="8686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Poppins"/>
              </a:rPr>
              <a:t>Diagnostic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46557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Inter"/>
              </a:rPr>
              <a:t>Opening balances confirmed and cleanup scope documented.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3118104"/>
            <a:ext cx="228600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2826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Poppins"/>
              </a:rPr>
              <a:t>Week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968496"/>
            <a:ext cx="59436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4059936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68496"/>
            <a:ext cx="868680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005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Poppins"/>
              </a:rPr>
              <a:t>Cleanup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3159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Inter"/>
              </a:rPr>
              <a:t>Prior-period cleanup completed (if applicable).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3968496"/>
            <a:ext cx="2286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4133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Poppins"/>
              </a:rPr>
              <a:t>Weeks 2–[X]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818888"/>
            <a:ext cx="59436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491032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818888"/>
            <a:ext cx="8686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8554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Poppins"/>
              </a:rPr>
              <a:t>First Close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166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Inter"/>
              </a:rPr>
              <a:t>First monthly close completed — books brought current.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4818888"/>
            <a:ext cx="228600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4983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Poppins"/>
              </a:rPr>
              <a:t>[Month/Year]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669280"/>
            <a:ext cx="59436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" y="57607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669280"/>
            <a:ext cx="868680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5705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Poppins"/>
              </a:rPr>
              <a:t>Deliver &amp; Refine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6016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Inter"/>
              </a:rPr>
              <a:t>Reports delivered; process refinement call held.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92640" y="5669280"/>
            <a:ext cx="2286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5833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Poppins"/>
              </a:rPr>
              <a:t>After Close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YOUR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Transparent, fixed pricing — no surprises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Setup / Diagnostic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Due on acceptance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371600"/>
            <a:ext cx="329184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53619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€[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03152" y="1371600"/>
            <a:ext cx="2286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50592"/>
            <a:ext cx="112745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Cleanup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[Schedule — 50% start / 50% delivery]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450592"/>
            <a:ext cx="329184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615184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€[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03152" y="2450592"/>
            <a:ext cx="2286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29584"/>
            <a:ext cx="112745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Monthly Bookkeeping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050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Monthly in advance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3529584"/>
            <a:ext cx="329184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3694176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€[ ] /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503152" y="3529584"/>
            <a:ext cx="2286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08576"/>
            <a:ext cx="112745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183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Additional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840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With written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4608576"/>
            <a:ext cx="329184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477316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€[ ] / hour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503152" y="4608576"/>
            <a:ext cx="2286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Why Work With [PRACTICE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What makes us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09728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3511296"/>
            <a:ext cx="3840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Consistent &amp; Reliable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57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Your books are closed on schedule, every month. No chasing, no guessing about where things 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109728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3511296"/>
            <a:ext cx="3840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Clear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57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One consolidated question list. One report delivery. No noise, no surprise requests mid-month.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46304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463040"/>
            <a:ext cx="109728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3511296"/>
            <a:ext cx="3840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Secure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057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Role-based access only. Secure portal for all documents. No passwords by email — ever.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74904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749040"/>
            <a:ext cx="109728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5797296"/>
            <a:ext cx="3840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Scales With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343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Whether you are at €1M or €5M revenue, the system scales without rebuilding your workflow.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3672" y="374904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33672" y="3749040"/>
            <a:ext cx="109728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33672" y="5797296"/>
            <a:ext cx="3840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Finance-First Thinking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343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We flag issues before they become problems. Your books tell a story — we help you read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3749040"/>
            <a:ext cx="3840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3749040"/>
            <a:ext cx="109728" cy="2103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38744" y="5797296"/>
            <a:ext cx="3840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9912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One Point of Contact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4343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You work directly with your bookkeeper. No call centres, no handoffs, no repeating yourself.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How We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A successful engagement is a two-way commitment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58521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YOUR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→  Provide complete and accurate records by the agreed deadline each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→  Grant secure, role-based software access (not passwords by email)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546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→  Respond to transaction questions within [X] business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033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→  Review and acknowledge monthly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519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→  Retain original source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006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Inter"/>
              </a:rPr>
              <a:t>→  Engage a qualified tax professional for tax advice and filings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6692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BF1"/>
                </a:solidFill>
                <a:latin typeface="Poppins"/>
              </a:rPr>
              <a:t>OUR COMMITMENTS TO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→  Close on schedule — or notify you immediately if delayed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→  Raise questions in one batch, not scattered throughout the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→  Document every judgment, exception, and adjustment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→  Never request passwords by ordinary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→  Deliver reports to your secure portal, not your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00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→  Flag unusual transactions or financial risks proactively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How to move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08760"/>
            <a:ext cx="594360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6002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508760"/>
            <a:ext cx="1104595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636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Review this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2024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Take a few minutes to read through the scope, investment, and responsibilities. Note any questions.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468880"/>
            <a:ext cx="594360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2560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468880"/>
            <a:ext cx="11045952" cy="804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5237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Ask your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8036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Reply to this proposal or book a quick call: [LINK]. We want to make sure this is exactly right for you.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429000"/>
            <a:ext cx="594360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3520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429000"/>
            <a:ext cx="1104595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4838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Approve the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84048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Reply with "Approved" or select your preferred scope option. We'll send the engagement agreement.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389120"/>
            <a:ext cx="594360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44805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389120"/>
            <a:ext cx="11045952" cy="804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439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Sign &amp; 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0060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Sign the engagement agreement and pay the setup fee. You'll receive your secure portal invitation within 24 hours.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5349240"/>
            <a:ext cx="594360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54406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349240"/>
            <a:ext cx="1104595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4041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Poppins"/>
              </a:rPr>
              <a:t>We get started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76072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Inter"/>
              </a:rPr>
              <a:t>We request access, collect documents, and schedule your kickoff call. First close begins [DATE].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6400800"/>
            <a:ext cx="11731752" cy="34747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19088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Inter"/>
              </a:rPr>
              <a:t>⚠  This proposal is valid until [DATE + 14 DAYS]. After that date, please contact us to confirm current availability.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4114800"/>
            <a:ext cx="27432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43032" y="5212080"/>
            <a:ext cx="1645920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7432" y="6126480"/>
            <a:ext cx="7315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oppins"/>
              </a:rPr>
              <a:t>Thank you for
considering
[PRACTICE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2286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[PRACTICE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[BOOKKEEPER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[EMAIL ADDRESS]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[PHONE NUMBER]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[WEBSITE / PORTAL URL]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92240"/>
            <a:ext cx="320040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Poppins"/>
              </a:rPr>
              <a:t>Replace all [BRACKETED TEXT] before sharing with a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Inter"/>
              </a:rPr>
              <a:t>Bookkeeper Practice Launch System v2.0  ·  [PRACTICE NAME]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