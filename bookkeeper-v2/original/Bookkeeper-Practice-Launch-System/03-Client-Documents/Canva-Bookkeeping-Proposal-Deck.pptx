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81ae0bb1bb844f4" /><Relationship Type="http://schemas.openxmlformats.org/officeDocument/2006/relationships/extended-properties" Target="/docProps/app.xml" Id="Rd946e4d4db6f4619" /><Relationship Type="http://schemas.openxmlformats.org/officeDocument/2006/relationships/officeDocument" Target="/ppt/presentation.xml" Id="Rfa74ed97199d405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e894f9887674b6f"/>
  </p:sldMasterIdLst>
  <p:notesMasterIdLst>
    <p:notesMasterId xmlns:r="http://schemas.openxmlformats.org/officeDocument/2006/relationships" r:id="R6faad3560f284b1e"/>
  </p:notesMasterIdLst>
  <p:sldIdLst>
    <p:sldId xmlns:r="http://schemas.openxmlformats.org/officeDocument/2006/relationships" id="256" r:id="Rc1d9a1363b624914"/>
    <p:sldId xmlns:r="http://schemas.openxmlformats.org/officeDocument/2006/relationships" id="257" r:id="Rfc8f993fdaaf4a82"/>
    <p:sldId xmlns:r="http://schemas.openxmlformats.org/officeDocument/2006/relationships" id="258" r:id="Re22b7b7212f84f3f"/>
    <p:sldId xmlns:r="http://schemas.openxmlformats.org/officeDocument/2006/relationships" id="259" r:id="R68bacf33a49a4c68"/>
    <p:sldId xmlns:r="http://schemas.openxmlformats.org/officeDocument/2006/relationships" id="260" r:id="R9e8803f43d0b4424"/>
    <p:sldId xmlns:r="http://schemas.openxmlformats.org/officeDocument/2006/relationships" id="261" r:id="R5a902405cf5b49c2"/>
    <p:sldId xmlns:r="http://schemas.openxmlformats.org/officeDocument/2006/relationships" id="262" r:id="Rf60d7d13c95246f3"/>
    <p:sldId xmlns:r="http://schemas.openxmlformats.org/officeDocument/2006/relationships" id="263" r:id="R32be1016cdca4255"/>
    <p:sldId xmlns:r="http://schemas.openxmlformats.org/officeDocument/2006/relationships" id="264" r:id="R719213fe2b59406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69df24a2c924316" /><Relationship Type="http://schemas.openxmlformats.org/officeDocument/2006/relationships/slideMaster" Target="/ppt/slideMasters/slideMaster1.xml" Id="Ree894f9887674b6f" /><Relationship Type="http://schemas.openxmlformats.org/officeDocument/2006/relationships/notesMaster" Target="/ppt/notesMasters/notesMaster1.xml" Id="R6faad3560f284b1e" /><Relationship Type="http://schemas.openxmlformats.org/officeDocument/2006/relationships/presProps" Target="/ppt/presProps.xml" Id="R980dac54b9564b5a" /><Relationship Type="http://schemas.openxmlformats.org/officeDocument/2006/relationships/tableStyles" Target="/ppt/tableStyles.xml" Id="R61487c25bd93436e" /><Relationship Type="http://schemas.openxmlformats.org/officeDocument/2006/relationships/slide" Target="/ppt/slides/slide1.xml" Id="Rc1d9a1363b624914" /><Relationship Type="http://schemas.openxmlformats.org/officeDocument/2006/relationships/slide" Target="/ppt/slides/slide2.xml" Id="Rfc8f993fdaaf4a82" /><Relationship Type="http://schemas.openxmlformats.org/officeDocument/2006/relationships/slide" Target="/ppt/slides/slide3.xml" Id="Re22b7b7212f84f3f" /><Relationship Type="http://schemas.openxmlformats.org/officeDocument/2006/relationships/slide" Target="/ppt/slides/slide4.xml" Id="R68bacf33a49a4c68" /><Relationship Type="http://schemas.openxmlformats.org/officeDocument/2006/relationships/slide" Target="/ppt/slides/slide5.xml" Id="R9e8803f43d0b4424" /><Relationship Type="http://schemas.openxmlformats.org/officeDocument/2006/relationships/slide" Target="/ppt/slides/slide6.xml" Id="R5a902405cf5b49c2" /><Relationship Type="http://schemas.openxmlformats.org/officeDocument/2006/relationships/slide" Target="/ppt/slides/slide7.xml" Id="Rf60d7d13c95246f3" /><Relationship Type="http://schemas.openxmlformats.org/officeDocument/2006/relationships/slide" Target="/ppt/slides/slide8.xml" Id="R32be1016cdca4255" /><Relationship Type="http://schemas.openxmlformats.org/officeDocument/2006/relationships/slide" Target="/ppt/slides/slide9.xml" Id="R719213fe2b59406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24668b8281e4bb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d3db29fe4fd47c0" /><Relationship Type="http://schemas.openxmlformats.org/officeDocument/2006/relationships/notesMaster" Target="/ppt/notesMasters/notesMaster1.xml" Id="Re26a15d7dc04492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f52b3c336cb4085" /><Relationship Type="http://schemas.openxmlformats.org/officeDocument/2006/relationships/notesMaster" Target="/ppt/notesMasters/notesMaster1.xml" Id="Rc5d4f4c05b6a422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6a694ffdd044478" /><Relationship Type="http://schemas.openxmlformats.org/officeDocument/2006/relationships/notesMaster" Target="/ppt/notesMasters/notesMaster1.xml" Id="Red717afb318f44c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3741eaf73c94535" /><Relationship Type="http://schemas.openxmlformats.org/officeDocument/2006/relationships/notesMaster" Target="/ppt/notesMasters/notesMaster1.xml" Id="R7782247054be45a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5c36579951640ed" /><Relationship Type="http://schemas.openxmlformats.org/officeDocument/2006/relationships/notesMaster" Target="/ppt/notesMasters/notesMaster1.xml" Id="Rf665a271a626473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dc81d20acc94e79" /><Relationship Type="http://schemas.openxmlformats.org/officeDocument/2006/relationships/notesMaster" Target="/ppt/notesMasters/notesMaster1.xml" Id="Re31f21fce0fb4d0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34de0a5d9ec4ece" /><Relationship Type="http://schemas.openxmlformats.org/officeDocument/2006/relationships/notesMaster" Target="/ppt/notesMasters/notesMaster1.xml" Id="Rc6068e007e3e48b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4984bc9d26443fa" /><Relationship Type="http://schemas.openxmlformats.org/officeDocument/2006/relationships/notesMaster" Target="/ppt/notesMasters/notesMaster1.xml" Id="Rf85a71ea11304a9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5c02302ab3f4dc6" /><Relationship Type="http://schemas.openxmlformats.org/officeDocument/2006/relationships/notesMaster" Target="/ppt/notesMasters/notesMaster1.xml" Id="R43e793d67227456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8e057b407445b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cc5a569df8241f7" /><Relationship Type="http://schemas.openxmlformats.org/officeDocument/2006/relationships/slideLayout" Target="/ppt/slideLayouts/slideLayout1.xml" Id="Rf23d142ee7094e8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23d142ee7094e8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c5224dddc942d0" /><Relationship Type="http://schemas.openxmlformats.org/officeDocument/2006/relationships/notesSlide" Target="/ppt/notesSlides/notesSlide1.xml" Id="Rad9e77ea8e214f0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8e9c5f379343e2" /><Relationship Type="http://schemas.openxmlformats.org/officeDocument/2006/relationships/notesSlide" Target="/ppt/notesSlides/notesSlide2.xml" Id="Re9f220119dcb4fc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2b94ad692c4d77" /><Relationship Type="http://schemas.openxmlformats.org/officeDocument/2006/relationships/notesSlide" Target="/ppt/notesSlides/notesSlide3.xml" Id="Rd676939893f04c3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f01df1ab154ace" /><Relationship Type="http://schemas.openxmlformats.org/officeDocument/2006/relationships/notesSlide" Target="/ppt/notesSlides/notesSlide4.xml" Id="Rca26945254664b0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ff18dcaa8d4a7d" /><Relationship Type="http://schemas.openxmlformats.org/officeDocument/2006/relationships/notesSlide" Target="/ppt/notesSlides/notesSlide5.xml" Id="Rf395fe6a8f66478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3a013957804878" /><Relationship Type="http://schemas.openxmlformats.org/officeDocument/2006/relationships/notesSlide" Target="/ppt/notesSlides/notesSlide6.xml" Id="R83e1e955fc7d4eb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6c9d6a4de442e7" /><Relationship Type="http://schemas.openxmlformats.org/officeDocument/2006/relationships/notesSlide" Target="/ppt/notesSlides/notesSlide7.xml" Id="R42645a5a8d454aa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c0683f34bf47c3" /><Relationship Type="http://schemas.openxmlformats.org/officeDocument/2006/relationships/notesSlide" Target="/ppt/notesSlides/notesSlide8.xml" Id="R210fb36c32dc44e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ae66afb1a046b0" /><Relationship Type="http://schemas.openxmlformats.org/officeDocument/2006/relationships/notesSlide" Target="/ppt/notesSlides/notesSlide9.xml" Id="R9455d2c2d3364cf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2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">
            <a:extLst xmlns:a="http://schemas.openxmlformats.org/drawingml/2006/main">
              <a:ext uri="{FF2B5EF4-FFF2-40B4-BE49-F238E27FC236}">
                <a16:creationId xmlns:a16="http://schemas.microsoft.com/office/drawing/2014/main" id="{75F70E9F-7BBA-4CBB-A5A3-DD75E938C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580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A39A"/>
                </a:solidFill>
              </a:defRPr>
            </a:pPr>
            <a:r>
              <a:rPr sz="1350" b="1">
                <a:solidFill>
                  <a:srgbClr val="1AA39A"/>
                </a:solidFill>
              </a:rPr>
              <a:t>BOOKKEEPING SERVICES PROPOSAL</a:t>
            </a:r>
          </a:p>
        </p:txBody>
      </p:sp>
      <p:sp>
        <p:nvSpPr>
          <p:cNvPr id="2" name="t">
            <a:extLst xmlns:a="http://schemas.openxmlformats.org/drawingml/2006/main">
              <a:ext uri="{FF2B5EF4-FFF2-40B4-BE49-F238E27FC236}">
                <a16:creationId xmlns:a16="http://schemas.microsoft.com/office/drawing/2014/main" id="{4150408B-F7AA-484A-84CC-8539C3F9E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666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Reliable books.</a:t>
            </a:r>
          </a:p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Clearer decisions.</a:t>
            </a:r>
          </a:p>
        </p:txBody>
      </p:sp>
      <p:sp>
        <p:nvSpPr>
          <p:cNvPr id="3" name="st">
            <a:extLst xmlns:a="http://schemas.openxmlformats.org/drawingml/2006/main">
              <a:ext uri="{FF2B5EF4-FFF2-40B4-BE49-F238E27FC236}">
                <a16:creationId xmlns:a16="http://schemas.microsoft.com/office/drawing/2014/main" id="{99F6BCB9-EAE8-4314-AA5B-0913B71BA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62375"/>
            <a:ext cx="514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9E4ED"/>
                </a:solidFill>
              </a:defRPr>
            </a:pPr>
            <a:r>
              <a:rPr sz="1875" b="0">
                <a:solidFill>
                  <a:srgbClr val="D9E4ED"/>
                </a:solidFill>
              </a:rPr>
              <a:t>Prepared for [CLIENT NAME]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C4D114-6458-4141-92E9-7C6803075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238250"/>
            <a:ext cx="2381250" cy="400050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1AA3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logo">
            <a:extLst xmlns:a="http://schemas.openxmlformats.org/drawingml/2006/main">
              <a:ext uri="{FF2B5EF4-FFF2-40B4-BE49-F238E27FC236}">
                <a16:creationId xmlns:a16="http://schemas.microsoft.com/office/drawing/2014/main" id="{ACBC21A8-402B-46AB-B9D8-B84FECBDD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667000"/>
            <a:ext cx="1619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YOUR</a:t>
            </a:r>
          </a:p>
          <a:p xmlns:a="http://schemas.openxmlformats.org/drawingml/2006/main">
            <a:pPr algn="ctr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LOGO</a:t>
            </a:r>
          </a:p>
        </p:txBody>
      </p:sp>
    </p:spTree>
    <p:extLst>
      <p:ext uri="{BB962C8B-B14F-4D97-AF65-F5344CB8AC3E}">
        <p14:creationId xmlns:p14="http://schemas.microsoft.com/office/powerpoint/2010/main" val="16669925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rand">
            <a:extLst xmlns:a="http://schemas.openxmlformats.org/drawingml/2006/main">
              <a:ext uri="{FF2B5EF4-FFF2-40B4-BE49-F238E27FC236}">
                <a16:creationId xmlns:a16="http://schemas.microsoft.com/office/drawing/2014/main" id="{E232BBE9-5088-4DE9-A1C6-DFA8BFDF5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A39A"/>
                </a:solidFill>
              </a:defRPr>
            </a:pPr>
            <a:r>
              <a:rPr sz="1200" b="1">
                <a:solidFill>
                  <a:srgbClr val="1AA39A"/>
                </a:solidFill>
              </a:rPr>
              <a:t>[PRACTICE NAME]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B3E328FC-62EF-4D86-A498-D4FAD7143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000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6788A"/>
                </a:solidFill>
              </a:defRPr>
            </a:pPr>
            <a:r>
              <a:rPr sz="1050" b="1">
                <a:solidFill>
                  <a:srgbClr val="66788A"/>
                </a:solidFill>
              </a:rPr>
              <a:t>02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815C67B-50AA-4D9B-988D-D65804DA9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953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24D"/>
                </a:solidFill>
              </a:defRPr>
            </a:pPr>
            <a:r>
              <a:rPr sz="3000" b="1">
                <a:solidFill>
                  <a:srgbClr val="17324D"/>
                </a:solidFill>
              </a:rPr>
              <a:t>What we found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3B2927-4415-4FCE-BBCA-8D5447393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95475"/>
            <a:ext cx="142875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A3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0">
            <a:extLst xmlns:a="http://schemas.openxmlformats.org/drawingml/2006/main">
              <a:ext uri="{FF2B5EF4-FFF2-40B4-BE49-F238E27FC236}">
                <a16:creationId xmlns:a16="http://schemas.microsoft.com/office/drawing/2014/main" id="{C56BC982-1515-4FF8-A4D3-9B26551E4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8097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43447"/>
                </a:solidFill>
              </a:defRPr>
            </a:pPr>
            <a:r>
              <a:rPr sz="1800" b="0">
                <a:solidFill>
                  <a:srgbClr val="243447"/>
                </a:solidFill>
              </a:rPr>
              <a:t>Last reconciled period: [MONTH]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39B232-6760-4759-8D5E-0F5F1D92B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81275"/>
            <a:ext cx="142875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A3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1">
            <a:extLst xmlns:a="http://schemas.openxmlformats.org/drawingml/2006/main">
              <a:ext uri="{FF2B5EF4-FFF2-40B4-BE49-F238E27FC236}">
                <a16:creationId xmlns:a16="http://schemas.microsoft.com/office/drawing/2014/main" id="{6CDBCD55-6445-497B-8AD0-BB10E2BB8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4955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43447"/>
                </a:solidFill>
              </a:defRPr>
            </a:pPr>
            <a:r>
              <a:rPr sz="1800" b="0">
                <a:solidFill>
                  <a:srgbClr val="243447"/>
                </a:solidFill>
              </a:rPr>
              <a:t>Current software and feeds: [DETAILS]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54687B-9759-4951-B8E7-753C4463E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67075"/>
            <a:ext cx="142875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A3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2">
            <a:extLst xmlns:a="http://schemas.openxmlformats.org/drawingml/2006/main">
              <a:ext uri="{FF2B5EF4-FFF2-40B4-BE49-F238E27FC236}">
                <a16:creationId xmlns:a16="http://schemas.microsoft.com/office/drawing/2014/main" id="{B0B74ED5-D196-43EC-B72A-25D6C9579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1813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43447"/>
                </a:solidFill>
              </a:defRPr>
            </a:pPr>
            <a:r>
              <a:rPr sz="1800" b="0">
                <a:solidFill>
                  <a:srgbClr val="243447"/>
                </a:solidFill>
              </a:rPr>
              <a:t>Primary risk or backlog: [ISSUE]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B3F74B-7965-44DF-8AB2-086D13C7F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52875"/>
            <a:ext cx="142875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A3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3">
            <a:extLst xmlns:a="http://schemas.openxmlformats.org/drawingml/2006/main">
              <a:ext uri="{FF2B5EF4-FFF2-40B4-BE49-F238E27FC236}">
                <a16:creationId xmlns:a16="http://schemas.microsoft.com/office/drawing/2014/main" id="{9E5DB647-A0A7-4606-8FCF-73EF47109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8671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43447"/>
                </a:solidFill>
              </a:defRPr>
            </a:pPr>
            <a:r>
              <a:rPr sz="1800" b="0">
                <a:solidFill>
                  <a:srgbClr val="243447"/>
                </a:solidFill>
              </a:rPr>
              <a:t>Reporting need: [OUTCOME]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D7B66E-15F7-4E02-BBA9-F5564304C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38675"/>
            <a:ext cx="142875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A3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4">
            <a:extLst xmlns:a="http://schemas.openxmlformats.org/drawingml/2006/main">
              <a:ext uri="{FF2B5EF4-FFF2-40B4-BE49-F238E27FC236}">
                <a16:creationId xmlns:a16="http://schemas.microsoft.com/office/drawing/2014/main" id="{960A82EB-64A3-4C50-9C5D-4E01BBDA6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5529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43447"/>
                </a:solidFill>
              </a:defRPr>
            </a:pPr>
            <a:r>
              <a:rPr sz="1800" b="0">
                <a:solidFill>
                  <a:srgbClr val="243447"/>
                </a:solidFill>
              </a:rPr>
              <a:t>Target start date: [DATE]</a:t>
            </a:r>
          </a:p>
        </p:txBody>
      </p:sp>
    </p:spTree>
    <p:extLst>
      <p:ext uri="{BB962C8B-B14F-4D97-AF65-F5344CB8AC3E}">
        <p14:creationId xmlns:p14="http://schemas.microsoft.com/office/powerpoint/2010/main" val="9054105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rand">
            <a:extLst xmlns:a="http://schemas.openxmlformats.org/drawingml/2006/main">
              <a:ext uri="{FF2B5EF4-FFF2-40B4-BE49-F238E27FC236}">
                <a16:creationId xmlns:a16="http://schemas.microsoft.com/office/drawing/2014/main" id="{38349277-598C-487E-842E-6AFAF6B9A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A39A"/>
                </a:solidFill>
              </a:defRPr>
            </a:pPr>
            <a:r>
              <a:rPr sz="1200" b="1">
                <a:solidFill>
                  <a:srgbClr val="1AA39A"/>
                </a:solidFill>
              </a:rPr>
              <a:t>[PRACTICE NAME]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472965DC-EEDE-469F-AED0-9648ECCF6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000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6788A"/>
                </a:solidFill>
              </a:defRPr>
            </a:pPr>
            <a:r>
              <a:rPr sz="1050" b="1">
                <a:solidFill>
                  <a:srgbClr val="66788A"/>
                </a:solidFill>
              </a:rPr>
              <a:t>03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39EBF6D-EC8F-4CF0-8249-141F0D6CC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953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24D"/>
                </a:solidFill>
              </a:defRPr>
            </a:pPr>
            <a:r>
              <a:rPr sz="3000" b="1">
                <a:solidFill>
                  <a:srgbClr val="17324D"/>
                </a:solidFill>
              </a:rPr>
              <a:t>Recommended scope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BC572D-C157-46B1-9DAA-AAFC23139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048250" cy="1476375"/>
          </a:xfrm>
          <a:prstGeom xmlns:a="http://schemas.openxmlformats.org/drawingml/2006/main" prst="roundRect">
            <a:avLst>
              <a:gd name="adj" fmla="val 10323"/>
            </a:avLst>
          </a:prstGeom>
          <a:solidFill xmlns:a="http://schemas.openxmlformats.org/drawingml/2006/main">
            <a:srgbClr val="E9F7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h0">
            <a:extLst xmlns:a="http://schemas.openxmlformats.org/drawingml/2006/main">
              <a:ext uri="{FF2B5EF4-FFF2-40B4-BE49-F238E27FC236}">
                <a16:creationId xmlns:a16="http://schemas.microsoft.com/office/drawing/2014/main" id="{6FA75CD4-21E7-4438-8DA0-278067645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95500"/>
            <a:ext cx="438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MONTHLY BOOKKEEPING</a:t>
            </a:r>
          </a:p>
        </p:txBody>
      </p:sp>
      <p:sp>
        <p:nvSpPr>
          <p:cNvPr id="6" name="d0">
            <a:extLst xmlns:a="http://schemas.openxmlformats.org/drawingml/2006/main">
              <a:ext uri="{FF2B5EF4-FFF2-40B4-BE49-F238E27FC236}">
                <a16:creationId xmlns:a16="http://schemas.microsoft.com/office/drawing/2014/main" id="{C65DDEE3-D594-4A12-804B-74CAB1E98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43175"/>
            <a:ext cx="438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43447"/>
                </a:solidFill>
              </a:defRPr>
            </a:pPr>
            <a:r>
              <a:rPr sz="1425" b="0">
                <a:solidFill>
                  <a:srgbClr val="243447"/>
                </a:solidFill>
              </a:rPr>
              <a:t>Categorization, reconciliations, and balance-sheet review.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4EC98C-A815-4BD1-870D-758B6C6A6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09750"/>
            <a:ext cx="5048250" cy="1476375"/>
          </a:xfrm>
          <a:prstGeom xmlns:a="http://schemas.openxmlformats.org/drawingml/2006/main" prst="roundRect">
            <a:avLst>
              <a:gd name="adj" fmla="val 10323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h1">
            <a:extLst xmlns:a="http://schemas.openxmlformats.org/drawingml/2006/main">
              <a:ext uri="{FF2B5EF4-FFF2-40B4-BE49-F238E27FC236}">
                <a16:creationId xmlns:a16="http://schemas.microsoft.com/office/drawing/2014/main" id="{C897E18D-5C60-41E6-9870-156D56465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95500"/>
            <a:ext cx="438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AA39A"/>
                </a:solidFill>
              </a:defRPr>
            </a:pPr>
            <a:r>
              <a:rPr sz="1650" b="1">
                <a:solidFill>
                  <a:srgbClr val="1AA39A"/>
                </a:solidFill>
              </a:rPr>
              <a:t>REPORTING</a:t>
            </a:r>
          </a:p>
        </p:txBody>
      </p:sp>
      <p:sp>
        <p:nvSpPr>
          <p:cNvPr id="9" name="d1">
            <a:extLst xmlns:a="http://schemas.openxmlformats.org/drawingml/2006/main">
              <a:ext uri="{FF2B5EF4-FFF2-40B4-BE49-F238E27FC236}">
                <a16:creationId xmlns:a16="http://schemas.microsoft.com/office/drawing/2014/main" id="{DCFE5747-FB6D-4BC2-AF4A-33B46CE1F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43175"/>
            <a:ext cx="438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9E4ED"/>
                </a:solidFill>
              </a:defRPr>
            </a:pPr>
            <a:r>
              <a:rPr sz="1425" b="0">
                <a:solidFill>
                  <a:srgbClr val="D9E4ED"/>
                </a:solidFill>
              </a:rPr>
              <a:t>P&amp;L, balance sheet, and agreed management reports.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F36886-0BAD-4530-862F-131D38CCC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5048250" cy="1476375"/>
          </a:xfrm>
          <a:prstGeom xmlns:a="http://schemas.openxmlformats.org/drawingml/2006/main" prst="roundRect">
            <a:avLst>
              <a:gd name="adj" fmla="val 10323"/>
            </a:avLst>
          </a:prstGeom>
          <a:solidFill xmlns:a="http://schemas.openxmlformats.org/drawingml/2006/main">
            <a:srgbClr val="E9F7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h2">
            <a:extLst xmlns:a="http://schemas.openxmlformats.org/drawingml/2006/main">
              <a:ext uri="{FF2B5EF4-FFF2-40B4-BE49-F238E27FC236}">
                <a16:creationId xmlns:a16="http://schemas.microsoft.com/office/drawing/2014/main" id="{DB69F289-D63F-4597-84E9-70226ECE3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05250"/>
            <a:ext cx="438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CLIENT QUESTIONS</a:t>
            </a:r>
          </a:p>
        </p:txBody>
      </p:sp>
      <p:sp>
        <p:nvSpPr>
          <p:cNvPr id="12" name="d2">
            <a:extLst xmlns:a="http://schemas.openxmlformats.org/drawingml/2006/main">
              <a:ext uri="{FF2B5EF4-FFF2-40B4-BE49-F238E27FC236}">
                <a16:creationId xmlns:a16="http://schemas.microsoft.com/office/drawing/2014/main" id="{09D845F4-5852-459F-A335-8BF02736F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52925"/>
            <a:ext cx="438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43447"/>
                </a:solidFill>
              </a:defRPr>
            </a:pPr>
            <a:r>
              <a:rPr sz="1425" b="0">
                <a:solidFill>
                  <a:srgbClr val="243447"/>
                </a:solidFill>
              </a:rPr>
              <a:t>One consolidated exception and document-request process.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03E85B-D1FE-4B63-90CA-CEBE55B44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619500"/>
            <a:ext cx="5048250" cy="1476375"/>
          </a:xfrm>
          <a:prstGeom xmlns:a="http://schemas.openxmlformats.org/drawingml/2006/main" prst="roundRect">
            <a:avLst>
              <a:gd name="adj" fmla="val 10323"/>
            </a:avLst>
          </a:prstGeom>
          <a:solidFill xmlns:a="http://schemas.openxmlformats.org/drawingml/2006/main">
            <a:srgbClr val="E9F7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h3">
            <a:extLst xmlns:a="http://schemas.openxmlformats.org/drawingml/2006/main">
              <a:ext uri="{FF2B5EF4-FFF2-40B4-BE49-F238E27FC236}">
                <a16:creationId xmlns:a16="http://schemas.microsoft.com/office/drawing/2014/main" id="{DBBFF586-7819-423B-A483-A1780F35F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05250"/>
            <a:ext cx="438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CLOSE CONTROL</a:t>
            </a:r>
          </a:p>
        </p:txBody>
      </p:sp>
      <p:sp>
        <p:nvSpPr>
          <p:cNvPr id="15" name="d3">
            <a:extLst xmlns:a="http://schemas.openxmlformats.org/drawingml/2006/main">
              <a:ext uri="{FF2B5EF4-FFF2-40B4-BE49-F238E27FC236}">
                <a16:creationId xmlns:a16="http://schemas.microsoft.com/office/drawing/2014/main" id="{5A6C99CB-34D3-4AEC-80C4-17E6B904C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352925"/>
            <a:ext cx="438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43447"/>
                </a:solidFill>
              </a:defRPr>
            </a:pPr>
            <a:r>
              <a:rPr sz="1425" b="0">
                <a:solidFill>
                  <a:srgbClr val="243447"/>
                </a:solidFill>
              </a:rPr>
              <a:t>A documented deadline, reviewer, and completion status.</a:t>
            </a:r>
          </a:p>
        </p:txBody>
      </p:sp>
    </p:spTree>
    <p:extLst>
      <p:ext uri="{BB962C8B-B14F-4D97-AF65-F5344CB8AC3E}">
        <p14:creationId xmlns:p14="http://schemas.microsoft.com/office/powerpoint/2010/main" val="1224216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rand">
            <a:extLst xmlns:a="http://schemas.openxmlformats.org/drawingml/2006/main">
              <a:ext uri="{FF2B5EF4-FFF2-40B4-BE49-F238E27FC236}">
                <a16:creationId xmlns:a16="http://schemas.microsoft.com/office/drawing/2014/main" id="{6AD93854-800B-4271-BD3D-284AC9EBE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A39A"/>
                </a:solidFill>
              </a:defRPr>
            </a:pPr>
            <a:r>
              <a:rPr sz="1200" b="1">
                <a:solidFill>
                  <a:srgbClr val="1AA39A"/>
                </a:solidFill>
              </a:rPr>
              <a:t>[PRACTICE NAME]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F1FA7399-D678-436F-A95C-958FA3024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000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6788A"/>
                </a:solidFill>
              </a:defRPr>
            </a:pPr>
            <a:r>
              <a:rPr sz="1050" b="1">
                <a:solidFill>
                  <a:srgbClr val="66788A"/>
                </a:solidFill>
              </a:rPr>
              <a:t>04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DE40633-0C00-4C3D-8632-E61701B35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953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24D"/>
                </a:solidFill>
              </a:defRPr>
            </a:pPr>
            <a:r>
              <a:rPr sz="3000" b="1">
                <a:solidFill>
                  <a:srgbClr val="17324D"/>
                </a:solidFill>
              </a:rPr>
              <a:t>Monthly close workflow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BDE559-E0C5-4723-808A-3F0B3FACB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33625"/>
            <a:ext cx="1219200" cy="1219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A3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n0">
            <a:extLst xmlns:a="http://schemas.openxmlformats.org/drawingml/2006/main">
              <a:ext uri="{FF2B5EF4-FFF2-40B4-BE49-F238E27FC236}">
                <a16:creationId xmlns:a16="http://schemas.microsoft.com/office/drawing/2014/main" id="{6C170924-B9DF-4F30-B3CB-2AA69A6FF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098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l0">
            <a:extLst xmlns:a="http://schemas.openxmlformats.org/drawingml/2006/main">
              <a:ext uri="{FF2B5EF4-FFF2-40B4-BE49-F238E27FC236}">
                <a16:creationId xmlns:a16="http://schemas.microsoft.com/office/drawing/2014/main" id="{4C0EFCB6-40EA-463C-B13B-8CFAFC7F4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905250"/>
            <a:ext cx="1314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Collect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165BFE-37F7-4319-B106-236F7335D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333625"/>
            <a:ext cx="1219200" cy="1219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7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n1">
            <a:extLst xmlns:a="http://schemas.openxmlformats.org/drawingml/2006/main">
              <a:ext uri="{FF2B5EF4-FFF2-40B4-BE49-F238E27FC236}">
                <a16:creationId xmlns:a16="http://schemas.microsoft.com/office/drawing/2014/main" id="{27A19E72-0D47-4356-AB4E-924973B65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6098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AA39A"/>
                </a:solidFill>
              </a:defRPr>
            </a:pPr>
            <a:r>
              <a:rPr sz="1350" b="1">
                <a:solidFill>
                  <a:srgbClr val="1AA39A"/>
                </a:solidFill>
              </a:rPr>
              <a:t>2</a:t>
            </a:r>
          </a:p>
        </p:txBody>
      </p:sp>
      <p:sp>
        <p:nvSpPr>
          <p:cNvPr id="9" name="l1">
            <a:extLst xmlns:a="http://schemas.openxmlformats.org/drawingml/2006/main">
              <a:ext uri="{FF2B5EF4-FFF2-40B4-BE49-F238E27FC236}">
                <a16:creationId xmlns:a16="http://schemas.microsoft.com/office/drawing/2014/main" id="{0C7DBD74-6052-4A13-A8A0-3EF31AAE1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3905250"/>
            <a:ext cx="1314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Import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126AE6-845C-451D-86C4-A4F72CB9B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333625"/>
            <a:ext cx="1219200" cy="1219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7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n2">
            <a:extLst xmlns:a="http://schemas.openxmlformats.org/drawingml/2006/main">
              <a:ext uri="{FF2B5EF4-FFF2-40B4-BE49-F238E27FC236}">
                <a16:creationId xmlns:a16="http://schemas.microsoft.com/office/drawing/2014/main" id="{6A8EBE2C-E938-4A52-98F2-160015DE2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6098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AA39A"/>
                </a:solidFill>
              </a:defRPr>
            </a:pPr>
            <a:r>
              <a:rPr sz="1350" b="1">
                <a:solidFill>
                  <a:srgbClr val="1AA39A"/>
                </a:solidFill>
              </a:rPr>
              <a:t>3</a:t>
            </a:r>
          </a:p>
        </p:txBody>
      </p:sp>
      <p:sp>
        <p:nvSpPr>
          <p:cNvPr id="12" name="l2">
            <a:extLst xmlns:a="http://schemas.openxmlformats.org/drawingml/2006/main">
              <a:ext uri="{FF2B5EF4-FFF2-40B4-BE49-F238E27FC236}">
                <a16:creationId xmlns:a16="http://schemas.microsoft.com/office/drawing/2014/main" id="{61DF9A68-A378-4539-972B-568421ED7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905250"/>
            <a:ext cx="1314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Categorize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8AACF3-1DB9-4673-B9E3-F3E195AE5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333625"/>
            <a:ext cx="1219200" cy="1219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7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n3">
            <a:extLst xmlns:a="http://schemas.openxmlformats.org/drawingml/2006/main">
              <a:ext uri="{FF2B5EF4-FFF2-40B4-BE49-F238E27FC236}">
                <a16:creationId xmlns:a16="http://schemas.microsoft.com/office/drawing/2014/main" id="{EE1B9B6F-9ECA-42EE-8808-CBA4B3653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6098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AA39A"/>
                </a:solidFill>
              </a:defRPr>
            </a:pPr>
            <a:r>
              <a:rPr sz="1350" b="1">
                <a:solidFill>
                  <a:srgbClr val="1AA39A"/>
                </a:solidFill>
              </a:rPr>
              <a:t>4</a:t>
            </a:r>
          </a:p>
        </p:txBody>
      </p:sp>
      <p:sp>
        <p:nvSpPr>
          <p:cNvPr id="15" name="l3">
            <a:extLst xmlns:a="http://schemas.openxmlformats.org/drawingml/2006/main">
              <a:ext uri="{FF2B5EF4-FFF2-40B4-BE49-F238E27FC236}">
                <a16:creationId xmlns:a16="http://schemas.microsoft.com/office/drawing/2014/main" id="{BA745E05-6193-4D74-8DB3-0D06BB5C2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3905250"/>
            <a:ext cx="1314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Reconcile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4221F7-9465-402D-B09D-221469CC1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333625"/>
            <a:ext cx="1219200" cy="1219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7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n4">
            <a:extLst xmlns:a="http://schemas.openxmlformats.org/drawingml/2006/main">
              <a:ext uri="{FF2B5EF4-FFF2-40B4-BE49-F238E27FC236}">
                <a16:creationId xmlns:a16="http://schemas.microsoft.com/office/drawing/2014/main" id="{2BDC41E1-D074-44B7-A852-4E277FD7F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6098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AA39A"/>
                </a:solidFill>
              </a:defRPr>
            </a:pPr>
            <a:r>
              <a:rPr sz="1350" b="1">
                <a:solidFill>
                  <a:srgbClr val="1AA39A"/>
                </a:solidFill>
              </a:rPr>
              <a:t>5</a:t>
            </a:r>
          </a:p>
        </p:txBody>
      </p:sp>
      <p:sp>
        <p:nvSpPr>
          <p:cNvPr id="18" name="l4">
            <a:extLst xmlns:a="http://schemas.openxmlformats.org/drawingml/2006/main">
              <a:ext uri="{FF2B5EF4-FFF2-40B4-BE49-F238E27FC236}">
                <a16:creationId xmlns:a16="http://schemas.microsoft.com/office/drawing/2014/main" id="{6C8B9E2C-1625-4D28-95B9-8BFBD5DAA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3905250"/>
            <a:ext cx="1314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Review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ACA2FC-8043-4EB6-9C16-7D829F2E1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333625"/>
            <a:ext cx="1219200" cy="1219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7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n5">
            <a:extLst xmlns:a="http://schemas.openxmlformats.org/drawingml/2006/main">
              <a:ext uri="{FF2B5EF4-FFF2-40B4-BE49-F238E27FC236}">
                <a16:creationId xmlns:a16="http://schemas.microsoft.com/office/drawing/2014/main" id="{6EC3BB03-E1C7-4ED4-83FC-C1D175510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6098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AA39A"/>
                </a:solidFill>
              </a:defRPr>
            </a:pPr>
            <a:r>
              <a:rPr sz="1350" b="1">
                <a:solidFill>
                  <a:srgbClr val="1AA39A"/>
                </a:solidFill>
              </a:rPr>
              <a:t>6</a:t>
            </a:r>
          </a:p>
        </p:txBody>
      </p:sp>
      <p:sp>
        <p:nvSpPr>
          <p:cNvPr id="21" name="l5">
            <a:extLst xmlns:a="http://schemas.openxmlformats.org/drawingml/2006/main">
              <a:ext uri="{FF2B5EF4-FFF2-40B4-BE49-F238E27FC236}">
                <a16:creationId xmlns:a16="http://schemas.microsoft.com/office/drawing/2014/main" id="{BF322315-1F8B-4779-8247-95FD522F6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905250"/>
            <a:ext cx="1314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Resolve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FAD2D4-52D4-4466-90EC-434D7D7A8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333625"/>
            <a:ext cx="1219200" cy="1219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7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n6">
            <a:extLst xmlns:a="http://schemas.openxmlformats.org/drawingml/2006/main">
              <a:ext uri="{FF2B5EF4-FFF2-40B4-BE49-F238E27FC236}">
                <a16:creationId xmlns:a16="http://schemas.microsoft.com/office/drawing/2014/main" id="{B6170C1E-5081-40A1-8513-5E6AD95CE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098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AA39A"/>
                </a:solidFill>
              </a:defRPr>
            </a:pPr>
            <a:r>
              <a:rPr sz="1350" b="1">
                <a:solidFill>
                  <a:srgbClr val="1AA39A"/>
                </a:solidFill>
              </a:rPr>
              <a:t>7</a:t>
            </a:r>
          </a:p>
        </p:txBody>
      </p:sp>
      <p:sp>
        <p:nvSpPr>
          <p:cNvPr id="24" name="l6">
            <a:extLst xmlns:a="http://schemas.openxmlformats.org/drawingml/2006/main">
              <a:ext uri="{FF2B5EF4-FFF2-40B4-BE49-F238E27FC236}">
                <a16:creationId xmlns:a16="http://schemas.microsoft.com/office/drawing/2014/main" id="{F9D94944-513A-4573-9936-0127E54D8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3905250"/>
            <a:ext cx="1314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Report</a:t>
            </a:r>
          </a:p>
        </p:txBody>
      </p:sp>
    </p:spTree>
    <p:extLst>
      <p:ext uri="{BB962C8B-B14F-4D97-AF65-F5344CB8AC3E}">
        <p14:creationId xmlns:p14="http://schemas.microsoft.com/office/powerpoint/2010/main" val="17079297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rand">
            <a:extLst xmlns:a="http://schemas.openxmlformats.org/drawingml/2006/main">
              <a:ext uri="{FF2B5EF4-FFF2-40B4-BE49-F238E27FC236}">
                <a16:creationId xmlns:a16="http://schemas.microsoft.com/office/drawing/2014/main" id="{A86EC49C-6D67-4F37-B3CB-54693500D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A39A"/>
                </a:solidFill>
              </a:defRPr>
            </a:pPr>
            <a:r>
              <a:rPr sz="1200" b="1">
                <a:solidFill>
                  <a:srgbClr val="1AA39A"/>
                </a:solidFill>
              </a:rPr>
              <a:t>[PRACTICE NAME]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FA4204C9-0BFF-4AF1-9319-76A347BF3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000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6788A"/>
                </a:solidFill>
              </a:defRPr>
            </a:pPr>
            <a:r>
              <a:rPr sz="1050" b="1">
                <a:solidFill>
                  <a:srgbClr val="66788A"/>
                </a:solidFill>
              </a:rPr>
              <a:t>05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A21BD50-EB4D-4C3A-9532-E64E2E858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953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24D"/>
                </a:solidFill>
              </a:defRPr>
            </a:pPr>
            <a:r>
              <a:rPr sz="3000" b="1">
                <a:solidFill>
                  <a:srgbClr val="17324D"/>
                </a:solidFill>
              </a:rPr>
              <a:t>What you receive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696269-EDAB-4529-AFE7-DF4E2F497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95475"/>
            <a:ext cx="142875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A3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0">
            <a:extLst xmlns:a="http://schemas.openxmlformats.org/drawingml/2006/main">
              <a:ext uri="{FF2B5EF4-FFF2-40B4-BE49-F238E27FC236}">
                <a16:creationId xmlns:a16="http://schemas.microsoft.com/office/drawing/2014/main" id="{E7CE6B3D-7438-45AF-AB05-42951A0C3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8097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43447"/>
                </a:solidFill>
              </a:defRPr>
            </a:pPr>
            <a:r>
              <a:rPr sz="1800" b="0">
                <a:solidFill>
                  <a:srgbClr val="243447"/>
                </a:solidFill>
              </a:rPr>
              <a:t>Books reconciled through the agreed period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0048A1-C84D-44FE-AF42-82004C721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81275"/>
            <a:ext cx="142875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A3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1">
            <a:extLst xmlns:a="http://schemas.openxmlformats.org/drawingml/2006/main">
              <a:ext uri="{FF2B5EF4-FFF2-40B4-BE49-F238E27FC236}">
                <a16:creationId xmlns:a16="http://schemas.microsoft.com/office/drawing/2014/main" id="{4859EA84-CA4B-45D9-BB19-117DB6C46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4955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43447"/>
                </a:solidFill>
              </a:defRPr>
            </a:pPr>
            <a:r>
              <a:rPr sz="1800" b="0">
                <a:solidFill>
                  <a:srgbClr val="243447"/>
                </a:solidFill>
              </a:rPr>
              <a:t>Monthly profit &amp; loss and balance sheet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3C5F87-4F4E-44E0-A108-6913E154B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67075"/>
            <a:ext cx="142875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A3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2">
            <a:extLst xmlns:a="http://schemas.openxmlformats.org/drawingml/2006/main">
              <a:ext uri="{FF2B5EF4-FFF2-40B4-BE49-F238E27FC236}">
                <a16:creationId xmlns:a16="http://schemas.microsoft.com/office/drawing/2014/main" id="{1D88C53C-3143-4123-B316-272C601A8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1813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43447"/>
                </a:solidFill>
              </a:defRPr>
            </a:pPr>
            <a:r>
              <a:rPr sz="1800" b="0">
                <a:solidFill>
                  <a:srgbClr val="243447"/>
                </a:solidFill>
              </a:rPr>
              <a:t>Documented questions and exceptions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87D70D-25A1-414C-923D-A5D23C174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52875"/>
            <a:ext cx="142875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A3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3">
            <a:extLst xmlns:a="http://schemas.openxmlformats.org/drawingml/2006/main">
              <a:ext uri="{FF2B5EF4-FFF2-40B4-BE49-F238E27FC236}">
                <a16:creationId xmlns:a16="http://schemas.microsoft.com/office/drawing/2014/main" id="{BF9628D8-8038-4FFF-89AB-1BC31A0B7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8671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43447"/>
                </a:solidFill>
              </a:defRPr>
            </a:pPr>
            <a:r>
              <a:rPr sz="1800" b="0">
                <a:solidFill>
                  <a:srgbClr val="243447"/>
                </a:solidFill>
              </a:rPr>
              <a:t>A concise financial-action summary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70C689-80CA-4001-846C-70F4BD366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38675"/>
            <a:ext cx="142875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A3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4">
            <a:extLst xmlns:a="http://schemas.openxmlformats.org/drawingml/2006/main">
              <a:ext uri="{FF2B5EF4-FFF2-40B4-BE49-F238E27FC236}">
                <a16:creationId xmlns:a16="http://schemas.microsoft.com/office/drawing/2014/main" id="{3CC8B61D-F607-4010-A08F-CE3169C9A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5529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43447"/>
                </a:solidFill>
              </a:defRPr>
            </a:pPr>
            <a:r>
              <a:rPr sz="1800" b="0">
                <a:solidFill>
                  <a:srgbClr val="243447"/>
                </a:solidFill>
              </a:rPr>
              <a:t>A secure, repeatable client workflow</a:t>
            </a:r>
          </a:p>
        </p:txBody>
      </p:sp>
    </p:spTree>
    <p:extLst>
      <p:ext uri="{BB962C8B-B14F-4D97-AF65-F5344CB8AC3E}">
        <p14:creationId xmlns:p14="http://schemas.microsoft.com/office/powerpoint/2010/main" val="12509676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rand">
            <a:extLst xmlns:a="http://schemas.openxmlformats.org/drawingml/2006/main">
              <a:ext uri="{FF2B5EF4-FFF2-40B4-BE49-F238E27FC236}">
                <a16:creationId xmlns:a16="http://schemas.microsoft.com/office/drawing/2014/main" id="{3BD6FB32-0386-4DC1-B94F-2F1355210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A39A"/>
                </a:solidFill>
              </a:defRPr>
            </a:pPr>
            <a:r>
              <a:rPr sz="1200" b="1">
                <a:solidFill>
                  <a:srgbClr val="1AA39A"/>
                </a:solidFill>
              </a:rPr>
              <a:t>[PRACTICE NAME]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25123825-2AD3-427A-9CC3-31F392FC9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000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6788A"/>
                </a:solidFill>
              </a:defRPr>
            </a:pPr>
            <a:r>
              <a:rPr sz="1050" b="1">
                <a:solidFill>
                  <a:srgbClr val="66788A"/>
                </a:solidFill>
              </a:rPr>
              <a:t>06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3DC5FAE-245B-4E05-8D10-15ABD148F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953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24D"/>
                </a:solidFill>
              </a:defRPr>
            </a:pPr>
            <a:r>
              <a:rPr sz="3000" b="1">
                <a:solidFill>
                  <a:srgbClr val="17324D"/>
                </a:solidFill>
              </a:rPr>
              <a:t>Implementation plan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3DFF19-E2F0-4AD6-9572-5CAE4960C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2428875" cy="2952750"/>
          </a:xfrm>
          <a:prstGeom xmlns:a="http://schemas.openxmlformats.org/drawingml/2006/main" prst="roundRect">
            <a:avLst>
              <a:gd name="adj" fmla="val 6275"/>
            </a:avLst>
          </a:prstGeom>
          <a:solidFill xmlns:a="http://schemas.openxmlformats.org/drawingml/2006/main">
            <a:srgbClr val="E9F7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n0">
            <a:extLst xmlns:a="http://schemas.openxmlformats.org/drawingml/2006/main">
              <a:ext uri="{FF2B5EF4-FFF2-40B4-BE49-F238E27FC236}">
                <a16:creationId xmlns:a16="http://schemas.microsoft.com/office/drawing/2014/main" id="{4479937A-8EA4-4583-A8D6-7774F005A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860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6788A"/>
                </a:solidFill>
              </a:defRPr>
            </a:pPr>
            <a:r>
              <a:rPr sz="1275" b="1">
                <a:solidFill>
                  <a:srgbClr val="66788A"/>
                </a:solidFill>
              </a:rPr>
              <a:t>01</a:t>
            </a:r>
          </a:p>
        </p:txBody>
      </p:sp>
      <p:sp>
        <p:nvSpPr>
          <p:cNvPr id="6" name="h0">
            <a:extLst xmlns:a="http://schemas.openxmlformats.org/drawingml/2006/main">
              <a:ext uri="{FF2B5EF4-FFF2-40B4-BE49-F238E27FC236}">
                <a16:creationId xmlns:a16="http://schemas.microsoft.com/office/drawing/2014/main" id="{C58CAEC4-528E-4B1D-BF42-3C3791E01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956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24D"/>
                </a:solidFill>
              </a:defRPr>
            </a:pPr>
            <a:r>
              <a:rPr sz="1725" b="1">
                <a:solidFill>
                  <a:srgbClr val="17324D"/>
                </a:solidFill>
              </a:rPr>
              <a:t>ACCESS</a:t>
            </a:r>
          </a:p>
        </p:txBody>
      </p:sp>
      <p:sp>
        <p:nvSpPr>
          <p:cNvPr id="7" name="d0">
            <a:extLst xmlns:a="http://schemas.openxmlformats.org/drawingml/2006/main">
              <a:ext uri="{FF2B5EF4-FFF2-40B4-BE49-F238E27FC236}">
                <a16:creationId xmlns:a16="http://schemas.microsoft.com/office/drawing/2014/main" id="{A0EEBC7C-2554-4A85-82E4-5EEAF97BC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24250"/>
            <a:ext cx="1905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447"/>
                </a:solidFill>
              </a:defRPr>
            </a:pPr>
            <a:r>
              <a:rPr sz="1350" b="0">
                <a:solidFill>
                  <a:srgbClr val="243447"/>
                </a:solidFill>
              </a:rPr>
              <a:t>Secure invitations and source documents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7496E3-86EE-4E95-964A-FE03C2B6B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000250"/>
            <a:ext cx="2428875" cy="2952750"/>
          </a:xfrm>
          <a:prstGeom xmlns:a="http://schemas.openxmlformats.org/drawingml/2006/main" prst="roundRect">
            <a:avLst>
              <a:gd name="adj" fmla="val 6275"/>
            </a:avLst>
          </a:prstGeom>
          <a:solidFill xmlns:a="http://schemas.openxmlformats.org/drawingml/2006/main">
            <a:srgbClr val="E9F7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n1">
            <a:extLst xmlns:a="http://schemas.openxmlformats.org/drawingml/2006/main">
              <a:ext uri="{FF2B5EF4-FFF2-40B4-BE49-F238E27FC236}">
                <a16:creationId xmlns:a16="http://schemas.microsoft.com/office/drawing/2014/main" id="{E75AC57D-08C1-44CA-9F76-BDAE2C509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2860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6788A"/>
                </a:solidFill>
              </a:defRPr>
            </a:pPr>
            <a:r>
              <a:rPr sz="1275" b="1">
                <a:solidFill>
                  <a:srgbClr val="66788A"/>
                </a:solidFill>
              </a:rPr>
              <a:t>02</a:t>
            </a:r>
          </a:p>
        </p:txBody>
      </p:sp>
      <p:sp>
        <p:nvSpPr>
          <p:cNvPr id="10" name="h1">
            <a:extLst xmlns:a="http://schemas.openxmlformats.org/drawingml/2006/main">
              <a:ext uri="{FF2B5EF4-FFF2-40B4-BE49-F238E27FC236}">
                <a16:creationId xmlns:a16="http://schemas.microsoft.com/office/drawing/2014/main" id="{B76CDFC3-869E-42E4-A701-C1941021C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8956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24D"/>
                </a:solidFill>
              </a:defRPr>
            </a:pPr>
            <a:r>
              <a:rPr sz="1725" b="1">
                <a:solidFill>
                  <a:srgbClr val="17324D"/>
                </a:solidFill>
              </a:rPr>
              <a:t>DIAGNOSTIC</a:t>
            </a:r>
          </a:p>
        </p:txBody>
      </p:sp>
      <p:sp>
        <p:nvSpPr>
          <p:cNvPr id="11" name="d1">
            <a:extLst xmlns:a="http://schemas.openxmlformats.org/drawingml/2006/main">
              <a:ext uri="{FF2B5EF4-FFF2-40B4-BE49-F238E27FC236}">
                <a16:creationId xmlns:a16="http://schemas.microsoft.com/office/drawing/2014/main" id="{4ED1AC62-C38F-42A0-8498-452E2D702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524250"/>
            <a:ext cx="1905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447"/>
                </a:solidFill>
              </a:defRPr>
            </a:pPr>
            <a:r>
              <a:rPr sz="1350" b="0">
                <a:solidFill>
                  <a:srgbClr val="243447"/>
                </a:solidFill>
              </a:rPr>
              <a:t>Opening balances, backlog, and system review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7D06D1-1DDC-434A-8C6F-89B7C8A91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000250"/>
            <a:ext cx="2428875" cy="2952750"/>
          </a:xfrm>
          <a:prstGeom xmlns:a="http://schemas.openxmlformats.org/drawingml/2006/main" prst="roundRect">
            <a:avLst>
              <a:gd name="adj" fmla="val 6275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n2">
            <a:extLst xmlns:a="http://schemas.openxmlformats.org/drawingml/2006/main">
              <a:ext uri="{FF2B5EF4-FFF2-40B4-BE49-F238E27FC236}">
                <a16:creationId xmlns:a16="http://schemas.microsoft.com/office/drawing/2014/main" id="{A84902BC-096B-4757-817B-D9BB7A999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860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AA39A"/>
                </a:solidFill>
              </a:defRPr>
            </a:pPr>
            <a:r>
              <a:rPr sz="1275" b="1">
                <a:solidFill>
                  <a:srgbClr val="1AA39A"/>
                </a:solidFill>
              </a:rPr>
              <a:t>03</a:t>
            </a:r>
          </a:p>
        </p:txBody>
      </p:sp>
      <p:sp>
        <p:nvSpPr>
          <p:cNvPr id="14" name="h2">
            <a:extLst xmlns:a="http://schemas.openxmlformats.org/drawingml/2006/main">
              <a:ext uri="{FF2B5EF4-FFF2-40B4-BE49-F238E27FC236}">
                <a16:creationId xmlns:a16="http://schemas.microsoft.com/office/drawing/2014/main" id="{50E560EB-17C2-49A1-8E59-49DBD6537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956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CLEANUP</a:t>
            </a:r>
          </a:p>
        </p:txBody>
      </p:sp>
      <p:sp>
        <p:nvSpPr>
          <p:cNvPr id="15" name="d2">
            <a:extLst xmlns:a="http://schemas.openxmlformats.org/drawingml/2006/main">
              <a:ext uri="{FF2B5EF4-FFF2-40B4-BE49-F238E27FC236}">
                <a16:creationId xmlns:a16="http://schemas.microsoft.com/office/drawing/2014/main" id="{B9246E4E-9F52-4AAC-ADEE-ED86EC30E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524250"/>
            <a:ext cx="1905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9E4ED"/>
                </a:solidFill>
              </a:defRPr>
            </a:pPr>
            <a:r>
              <a:rPr sz="1350" b="0">
                <a:solidFill>
                  <a:srgbClr val="D9E4ED"/>
                </a:solidFill>
              </a:rPr>
              <a:t>Approved historical corrections and reconciliations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24FDEE-3E3E-47E6-A438-26E3DA881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000250"/>
            <a:ext cx="2428875" cy="2952750"/>
          </a:xfrm>
          <a:prstGeom xmlns:a="http://schemas.openxmlformats.org/drawingml/2006/main" prst="roundRect">
            <a:avLst>
              <a:gd name="adj" fmla="val 6275"/>
            </a:avLst>
          </a:prstGeom>
          <a:solidFill xmlns:a="http://schemas.openxmlformats.org/drawingml/2006/main">
            <a:srgbClr val="E9F7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n3">
            <a:extLst xmlns:a="http://schemas.openxmlformats.org/drawingml/2006/main">
              <a:ext uri="{FF2B5EF4-FFF2-40B4-BE49-F238E27FC236}">
                <a16:creationId xmlns:a16="http://schemas.microsoft.com/office/drawing/2014/main" id="{F23762EB-9AAC-4F4B-B625-C8F0AE9CF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2860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6788A"/>
                </a:solidFill>
              </a:defRPr>
            </a:pPr>
            <a:r>
              <a:rPr sz="1275" b="1">
                <a:solidFill>
                  <a:srgbClr val="66788A"/>
                </a:solidFill>
              </a:rPr>
              <a:t>04</a:t>
            </a:r>
          </a:p>
        </p:txBody>
      </p:sp>
      <p:sp>
        <p:nvSpPr>
          <p:cNvPr id="18" name="h3">
            <a:extLst xmlns:a="http://schemas.openxmlformats.org/drawingml/2006/main">
              <a:ext uri="{FF2B5EF4-FFF2-40B4-BE49-F238E27FC236}">
                <a16:creationId xmlns:a16="http://schemas.microsoft.com/office/drawing/2014/main" id="{980FDA74-8B21-4A6E-A6BA-754793105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8956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24D"/>
                </a:solidFill>
              </a:defRPr>
            </a:pPr>
            <a:r>
              <a:rPr sz="1725" b="1">
                <a:solidFill>
                  <a:srgbClr val="17324D"/>
                </a:solidFill>
              </a:rPr>
              <a:t>GO LIVE</a:t>
            </a:r>
          </a:p>
        </p:txBody>
      </p:sp>
      <p:sp>
        <p:nvSpPr>
          <p:cNvPr id="19" name="d3">
            <a:extLst xmlns:a="http://schemas.openxmlformats.org/drawingml/2006/main">
              <a:ext uri="{FF2B5EF4-FFF2-40B4-BE49-F238E27FC236}">
                <a16:creationId xmlns:a16="http://schemas.microsoft.com/office/drawing/2014/main" id="{C76CBF2A-303D-473D-AD6C-2242CCF84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524250"/>
            <a:ext cx="1905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447"/>
                </a:solidFill>
              </a:defRPr>
            </a:pPr>
            <a:r>
              <a:rPr sz="1350" b="0">
                <a:solidFill>
                  <a:srgbClr val="243447"/>
                </a:solidFill>
              </a:rPr>
              <a:t>First recurring close and report delivery</a:t>
            </a:r>
          </a:p>
        </p:txBody>
      </p:sp>
    </p:spTree>
    <p:extLst>
      <p:ext uri="{BB962C8B-B14F-4D97-AF65-F5344CB8AC3E}">
        <p14:creationId xmlns:p14="http://schemas.microsoft.com/office/powerpoint/2010/main" val="43604388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rand">
            <a:extLst xmlns:a="http://schemas.openxmlformats.org/drawingml/2006/main">
              <a:ext uri="{FF2B5EF4-FFF2-40B4-BE49-F238E27FC236}">
                <a16:creationId xmlns:a16="http://schemas.microsoft.com/office/drawing/2014/main" id="{1620D98C-8BA0-4E72-8630-0DDD27CA2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A39A"/>
                </a:solidFill>
              </a:defRPr>
            </a:pPr>
            <a:r>
              <a:rPr sz="1200" b="1">
                <a:solidFill>
                  <a:srgbClr val="1AA39A"/>
                </a:solidFill>
              </a:rPr>
              <a:t>[PRACTICE NAME]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9A97EB98-A083-4075-9EC1-14711B17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000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6788A"/>
                </a:solidFill>
              </a:defRPr>
            </a:pPr>
            <a:r>
              <a:rPr sz="1050" b="1">
                <a:solidFill>
                  <a:srgbClr val="66788A"/>
                </a:solidFill>
              </a:rPr>
              <a:t>07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8DEA5C8-8E3D-47A8-8BE8-8C3E2FF73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953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24D"/>
                </a:solidFill>
              </a:defRPr>
            </a:pPr>
            <a:r>
              <a:rPr sz="3000" b="1">
                <a:solidFill>
                  <a:srgbClr val="17324D"/>
                </a:solidFill>
              </a:rPr>
              <a:t>Investment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626AFB-7327-47F9-AB7C-313F5F44A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3333750" cy="3286125"/>
          </a:xfrm>
          <a:prstGeom xmlns:a="http://schemas.openxmlformats.org/drawingml/2006/main" prst="roundRect">
            <a:avLst>
              <a:gd name="adj" fmla="val 4638"/>
            </a:avLst>
          </a:prstGeom>
          <a:solidFill xmlns:a="http://schemas.openxmlformats.org/drawingml/2006/main">
            <a:srgbClr val="E9F7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h0">
            <a:extLst xmlns:a="http://schemas.openxmlformats.org/drawingml/2006/main">
              <a:ext uri="{FF2B5EF4-FFF2-40B4-BE49-F238E27FC236}">
                <a16:creationId xmlns:a16="http://schemas.microsoft.com/office/drawing/2014/main" id="{2B19FBF5-C9D5-460D-A48A-C41BC0B43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3336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SETUP / DIAGNOSTIC</a:t>
            </a:r>
          </a:p>
        </p:txBody>
      </p:sp>
      <p:sp>
        <p:nvSpPr>
          <p:cNvPr id="6" name="p0">
            <a:extLst xmlns:a="http://schemas.openxmlformats.org/drawingml/2006/main">
              <a:ext uri="{FF2B5EF4-FFF2-40B4-BE49-F238E27FC236}">
                <a16:creationId xmlns:a16="http://schemas.microsoft.com/office/drawing/2014/main" id="{386A736B-E902-42D4-A6FF-FFCDCD34E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048000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324D"/>
                </a:solidFill>
              </a:defRPr>
            </a:pPr>
            <a:r>
              <a:rPr sz="2325" b="1">
                <a:solidFill>
                  <a:srgbClr val="17324D"/>
                </a:solidFill>
              </a:rPr>
              <a:t>€[ ]</a:t>
            </a:r>
          </a:p>
        </p:txBody>
      </p:sp>
      <p:sp>
        <p:nvSpPr>
          <p:cNvPr id="7" name="b0">
            <a:extLst xmlns:a="http://schemas.openxmlformats.org/drawingml/2006/main">
              <a:ext uri="{FF2B5EF4-FFF2-40B4-BE49-F238E27FC236}">
                <a16:creationId xmlns:a16="http://schemas.microsoft.com/office/drawing/2014/main" id="{0EAB5F8C-90E9-43D2-A76A-616EDF573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400050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243447"/>
                </a:solidFill>
              </a:defRPr>
            </a:pPr>
            <a:r>
              <a:rPr sz="1425" b="0">
                <a:solidFill>
                  <a:srgbClr val="243447"/>
                </a:solidFill>
              </a:rPr>
              <a:t>One-time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664F9B-4EBA-41AC-B1D9-B22E44716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1952625"/>
            <a:ext cx="3333750" cy="3286125"/>
          </a:xfrm>
          <a:prstGeom xmlns:a="http://schemas.openxmlformats.org/drawingml/2006/main" prst="roundRect">
            <a:avLst>
              <a:gd name="adj" fmla="val 4638"/>
            </a:avLst>
          </a:prstGeom>
          <a:solidFill xmlns:a="http://schemas.openxmlformats.org/drawingml/2006/main">
            <a:srgbClr val="E9F7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h1">
            <a:extLst xmlns:a="http://schemas.openxmlformats.org/drawingml/2006/main">
              <a:ext uri="{FF2B5EF4-FFF2-40B4-BE49-F238E27FC236}">
                <a16:creationId xmlns:a16="http://schemas.microsoft.com/office/drawing/2014/main" id="{AA9661A6-6194-4D23-A2B0-009870BBE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3336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CLEANUP PROJECT</a:t>
            </a:r>
          </a:p>
        </p:txBody>
      </p:sp>
      <p:sp>
        <p:nvSpPr>
          <p:cNvPr id="10" name="p1">
            <a:extLst xmlns:a="http://schemas.openxmlformats.org/drawingml/2006/main">
              <a:ext uri="{FF2B5EF4-FFF2-40B4-BE49-F238E27FC236}">
                <a16:creationId xmlns:a16="http://schemas.microsoft.com/office/drawing/2014/main" id="{4F8AF463-67E4-4662-811F-D94339163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048000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324D"/>
                </a:solidFill>
              </a:defRPr>
            </a:pPr>
            <a:r>
              <a:rPr sz="2325" b="1">
                <a:solidFill>
                  <a:srgbClr val="17324D"/>
                </a:solidFill>
              </a:rPr>
              <a:t>€[ ]</a:t>
            </a:r>
          </a:p>
        </p:txBody>
      </p:sp>
      <p:sp>
        <p:nvSpPr>
          <p:cNvPr id="11" name="b1">
            <a:extLst xmlns:a="http://schemas.openxmlformats.org/drawingml/2006/main">
              <a:ext uri="{FF2B5EF4-FFF2-40B4-BE49-F238E27FC236}">
                <a16:creationId xmlns:a16="http://schemas.microsoft.com/office/drawing/2014/main" id="{E3FDB3E6-688D-4689-A381-FC01FB126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00050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243447"/>
                </a:solidFill>
              </a:defRPr>
            </a:pPr>
            <a:r>
              <a:rPr sz="1425" b="0">
                <a:solidFill>
                  <a:srgbClr val="243447"/>
                </a:solidFill>
              </a:rPr>
              <a:t>[Billing schedule]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A87D28-0E76-4882-A41B-7E3A781E8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952625"/>
            <a:ext cx="3333750" cy="3286125"/>
          </a:xfrm>
          <a:prstGeom xmlns:a="http://schemas.openxmlformats.org/drawingml/2006/main" prst="roundRect">
            <a:avLst>
              <a:gd name="adj" fmla="val 4638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h2">
            <a:extLst xmlns:a="http://schemas.openxmlformats.org/drawingml/2006/main">
              <a:ext uri="{FF2B5EF4-FFF2-40B4-BE49-F238E27FC236}">
                <a16:creationId xmlns:a16="http://schemas.microsoft.com/office/drawing/2014/main" id="{64653EB5-CF7A-41A9-9552-0D8B73A5D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3336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AA39A"/>
                </a:solidFill>
              </a:defRPr>
            </a:pPr>
            <a:r>
              <a:rPr sz="1500" b="1">
                <a:solidFill>
                  <a:srgbClr val="1AA39A"/>
                </a:solidFill>
              </a:rPr>
              <a:t>MONTHLY SERVICE</a:t>
            </a:r>
          </a:p>
        </p:txBody>
      </p:sp>
      <p:sp>
        <p:nvSpPr>
          <p:cNvPr id="14" name="p2">
            <a:extLst xmlns:a="http://schemas.openxmlformats.org/drawingml/2006/main">
              <a:ext uri="{FF2B5EF4-FFF2-40B4-BE49-F238E27FC236}">
                <a16:creationId xmlns:a16="http://schemas.microsoft.com/office/drawing/2014/main" id="{683BE09E-DE96-4E2A-BD3C-EFF64C3A1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048000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€[ ] / month</a:t>
            </a:r>
          </a:p>
        </p:txBody>
      </p:sp>
      <p:sp>
        <p:nvSpPr>
          <p:cNvPr id="15" name="b2">
            <a:extLst xmlns:a="http://schemas.openxmlformats.org/drawingml/2006/main">
              <a:ext uri="{FF2B5EF4-FFF2-40B4-BE49-F238E27FC236}">
                <a16:creationId xmlns:a16="http://schemas.microsoft.com/office/drawing/2014/main" id="{CA193811-7592-4E0A-9135-CF889E0F0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00050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D9E4ED"/>
                </a:solidFill>
              </a:defRPr>
            </a:pPr>
            <a:r>
              <a:rPr sz="1425" b="0">
                <a:solidFill>
                  <a:srgbClr val="D9E4ED"/>
                </a:solidFill>
              </a:rPr>
              <a:t>Billed monthly in advance</a:t>
            </a:r>
          </a:p>
        </p:txBody>
      </p:sp>
    </p:spTree>
    <p:extLst>
      <p:ext uri="{BB962C8B-B14F-4D97-AF65-F5344CB8AC3E}">
        <p14:creationId xmlns:p14="http://schemas.microsoft.com/office/powerpoint/2010/main" val="100485473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rand">
            <a:extLst xmlns:a="http://schemas.openxmlformats.org/drawingml/2006/main">
              <a:ext uri="{FF2B5EF4-FFF2-40B4-BE49-F238E27FC236}">
                <a16:creationId xmlns:a16="http://schemas.microsoft.com/office/drawing/2014/main" id="{449AE134-675A-4141-AFD5-91AF91112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A39A"/>
                </a:solidFill>
              </a:defRPr>
            </a:pPr>
            <a:r>
              <a:rPr sz="1200" b="1">
                <a:solidFill>
                  <a:srgbClr val="1AA39A"/>
                </a:solidFill>
              </a:rPr>
              <a:t>[PRACTICE NAME]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4B89926B-88F5-40EF-9A91-E3949B227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000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6788A"/>
                </a:solidFill>
              </a:defRPr>
            </a:pPr>
            <a:r>
              <a:rPr sz="1050" b="1">
                <a:solidFill>
                  <a:srgbClr val="66788A"/>
                </a:solidFill>
              </a:rPr>
              <a:t>08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ECDF452-03CF-4F57-89FB-D732F6345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953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24D"/>
                </a:solidFill>
              </a:defRPr>
            </a:pPr>
            <a:r>
              <a:rPr sz="3000" b="1">
                <a:solidFill>
                  <a:srgbClr val="17324D"/>
                </a:solidFill>
              </a:rPr>
              <a:t>Next steps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AB34A0-4825-4EA5-8F5A-F3B2ABF57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95475"/>
            <a:ext cx="142875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A3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0">
            <a:extLst xmlns:a="http://schemas.openxmlformats.org/drawingml/2006/main">
              <a:ext uri="{FF2B5EF4-FFF2-40B4-BE49-F238E27FC236}">
                <a16:creationId xmlns:a16="http://schemas.microsoft.com/office/drawing/2014/main" id="{1798C2ED-67DA-49A7-BE8A-38819B61E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8097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43447"/>
                </a:solidFill>
              </a:defRPr>
            </a:pPr>
            <a:r>
              <a:rPr sz="1800" b="0">
                <a:solidFill>
                  <a:srgbClr val="243447"/>
                </a:solidFill>
              </a:rPr>
              <a:t>Confirm scope, assumptions, and start date.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F4471F-65F8-4271-9C81-982B76B37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81275"/>
            <a:ext cx="142875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A3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1">
            <a:extLst xmlns:a="http://schemas.openxmlformats.org/drawingml/2006/main">
              <a:ext uri="{FF2B5EF4-FFF2-40B4-BE49-F238E27FC236}">
                <a16:creationId xmlns:a16="http://schemas.microsoft.com/office/drawing/2014/main" id="{CC283C54-57D1-4E9B-BBF7-4B4857C31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4955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43447"/>
                </a:solidFill>
              </a:defRPr>
            </a:pPr>
            <a:r>
              <a:rPr sz="1800" b="0">
                <a:solidFill>
                  <a:srgbClr val="243447"/>
                </a:solidFill>
              </a:rPr>
              <a:t>Sign the engagement agreement.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58516E-C8FD-4AFB-9408-20E070FD8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67075"/>
            <a:ext cx="142875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A3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2">
            <a:extLst xmlns:a="http://schemas.openxmlformats.org/drawingml/2006/main">
              <a:ext uri="{FF2B5EF4-FFF2-40B4-BE49-F238E27FC236}">
                <a16:creationId xmlns:a16="http://schemas.microsoft.com/office/drawing/2014/main" id="{C6BFD610-1B81-4ECE-B0AA-76A565EA7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1813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43447"/>
                </a:solidFill>
              </a:defRPr>
            </a:pPr>
            <a:r>
              <a:rPr sz="1800" b="0">
                <a:solidFill>
                  <a:srgbClr val="243447"/>
                </a:solidFill>
              </a:rPr>
              <a:t>Pay the setup or first invoice.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29602C-6297-4DD0-ABB3-A24FB29AB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52875"/>
            <a:ext cx="142875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A3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3">
            <a:extLst xmlns:a="http://schemas.openxmlformats.org/drawingml/2006/main">
              <a:ext uri="{FF2B5EF4-FFF2-40B4-BE49-F238E27FC236}">
                <a16:creationId xmlns:a16="http://schemas.microsoft.com/office/drawing/2014/main" id="{14BA51AA-0622-45F6-AAD1-FCE431663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8671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43447"/>
                </a:solidFill>
              </a:defRPr>
            </a:pPr>
            <a:r>
              <a:rPr sz="1800" b="0">
                <a:solidFill>
                  <a:srgbClr val="243447"/>
                </a:solidFill>
              </a:rPr>
              <a:t>Complete intake and secure access.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BB6DA6-D92B-424B-B74F-93D30B04C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38675"/>
            <a:ext cx="142875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A3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4">
            <a:extLst xmlns:a="http://schemas.openxmlformats.org/drawingml/2006/main">
              <a:ext uri="{FF2B5EF4-FFF2-40B4-BE49-F238E27FC236}">
                <a16:creationId xmlns:a16="http://schemas.microsoft.com/office/drawing/2014/main" id="{60374A6B-C121-46C7-A519-EA9113DD5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5529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43447"/>
                </a:solidFill>
              </a:defRPr>
            </a:pPr>
            <a:r>
              <a:rPr sz="1800" b="0">
                <a:solidFill>
                  <a:srgbClr val="243447"/>
                </a:solidFill>
              </a:rPr>
              <a:t>Attend kickoff and approve the close calendar.</a:t>
            </a:r>
          </a:p>
        </p:txBody>
      </p:sp>
    </p:spTree>
    <p:extLst>
      <p:ext uri="{BB962C8B-B14F-4D97-AF65-F5344CB8AC3E}">
        <p14:creationId xmlns:p14="http://schemas.microsoft.com/office/powerpoint/2010/main" val="147892939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AA39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">
            <a:extLst xmlns:a="http://schemas.openxmlformats.org/drawingml/2006/main">
              <a:ext uri="{FF2B5EF4-FFF2-40B4-BE49-F238E27FC236}">
                <a16:creationId xmlns:a16="http://schemas.microsoft.com/office/drawing/2014/main" id="{FEB1E243-88B0-4D4E-8BDC-AA1B4942F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572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READY TO BEGIN</a:t>
            </a:r>
          </a:p>
        </p:txBody>
      </p:sp>
      <p:sp>
        <p:nvSpPr>
          <p:cNvPr id="2" name="t">
            <a:extLst xmlns:a="http://schemas.openxmlformats.org/drawingml/2006/main">
              <a:ext uri="{FF2B5EF4-FFF2-40B4-BE49-F238E27FC236}">
                <a16:creationId xmlns:a16="http://schemas.microsoft.com/office/drawing/2014/main" id="{652CDCD0-6397-4450-B0F6-684E4640F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7524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Let’s build a calmer,</a:t>
            </a:r>
          </a:p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cleaner financial workflow.</a:t>
            </a:r>
          </a:p>
        </p:txBody>
      </p:sp>
      <p:sp>
        <p:nvSpPr>
          <p:cNvPr id="3" name="c">
            <a:extLst xmlns:a="http://schemas.openxmlformats.org/drawingml/2006/main">
              <a:ext uri="{FF2B5EF4-FFF2-40B4-BE49-F238E27FC236}">
                <a16:creationId xmlns:a16="http://schemas.microsoft.com/office/drawing/2014/main" id="{B412E268-4A68-45D4-AEF5-D90B1CB2D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76750"/>
            <a:ext cx="723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[NAME]  •  [EMAIL]  •  [WEBSITE]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6D1AA9-29F9-497B-98C8-A99B61CE3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190750"/>
            <a:ext cx="1952625" cy="1952625"/>
          </a:xfrm>
          <a:prstGeom xmlns:a="http://schemas.openxmlformats.org/drawingml/2006/main" prst="roundRect">
            <a:avLst>
              <a:gd name="adj" fmla="val 7805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logo">
            <a:extLst xmlns:a="http://schemas.openxmlformats.org/drawingml/2006/main">
              <a:ext uri="{FF2B5EF4-FFF2-40B4-BE49-F238E27FC236}">
                <a16:creationId xmlns:a16="http://schemas.microsoft.com/office/drawing/2014/main" id="{C60FBA06-72E3-45FD-85DB-BFDB72BD7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714625"/>
            <a:ext cx="1381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YOUR</a:t>
            </a:r>
          </a:p>
          <a:p xmlns:a="http://schemas.openxmlformats.org/drawingml/2006/main">
            <a:pPr algn="ctr"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LOGO</a:t>
            </a:r>
          </a:p>
        </p:txBody>
      </p:sp>
    </p:spTree>
    <p:extLst>
      <p:ext uri="{BB962C8B-B14F-4D97-AF65-F5344CB8AC3E}">
        <p14:creationId xmlns:p14="http://schemas.microsoft.com/office/powerpoint/2010/main" val="19818058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2026-06-21T18:53:30.2920000Z</dcterms:created>
  <dcterms:modified xsi:type="dcterms:W3CDTF">2026-06-21T18:53:30.2920000Z</dcterms:modified>
</coreProperties>
</file>